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preferSingleView="1">
    <p:restoredLeft sz="15620"/>
    <p:restoredTop sz="94660"/>
  </p:normalViewPr>
  <p:slideViewPr>
    <p:cSldViewPr snapToGrid="0">
      <p:cViewPr>
        <p:scale>
          <a:sx n="90" d="100"/>
          <a:sy n="90" d="100"/>
        </p:scale>
        <p:origin x="2268" y="5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7038DC7-7C94-43C1-A3CC-A1B5CB073FF6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FF16711-7829-4353-A523-B79983DDFBB3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319668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16711-7829-4353-A523-B79983DDFBB3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691267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16711-7829-4353-A523-B79983DDFBB3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98493316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6FF16711-7829-4353-A523-B79983DDFBB3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55089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3687500-EFC1-2735-E5A4-5A73D7135FC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BBD7EAC-7DB3-8781-10F9-B08DC4BA2554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CE18A4-2157-A69F-1877-13AFC4BC505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8A41787-B9AB-EE48-2CBA-33B0154C2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187C376-A634-750E-A7AC-AF92910A48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54478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4088628-7C29-433D-BF99-D5193FB8EE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F923B92C-399B-579F-1E71-A59DE17FED2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F178704-411D-97BF-5D45-E9B08DEF53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EA3A4F3-BFA1-E466-A325-5B679D3300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A7765F1-A7C5-686D-2E08-19C8D737D8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36980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0C0E8FD-7BDF-972F-1F5D-52AC3EDE833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D6E6D41-53E7-9E67-2D10-EDA9CBA1226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C8F8573-29D8-2B4A-CF0F-F06A6B9FDF8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840738A-DBC4-A0BD-080F-B1A3B79EE5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2699698-C64E-11DB-BE34-2AB867B83BE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02219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87785D9-33F5-07F2-937A-7D23F0180E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0689EF61-2B45-B7DA-1FE1-D16DEC152B0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8C712912-4DFC-1699-A71E-9B27A9CAF1C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3F2AEE1-07CF-8BDA-D067-4846A8C455A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54C7BB15-F68C-77AD-ACDA-AED787B65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FA7546D-4C43-F51A-7336-560FA091CC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43587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DA430062-38F6-5131-60E1-0E68EE6620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0DE91263-B58E-D71A-FAEA-2521AE18D6E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287F95E4-DBF2-6B54-45BE-2B1E70049AC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04E4F1EB-7B5A-CF9D-2EBA-678964BF345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15C559C-C44F-B773-8284-3C756471AFFC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4FE25E8D-1CAF-9598-0F38-117CFABDC38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A7D0098-49A1-C764-6067-B05F28B88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96F81FDB-0391-BE75-D00E-D8228E30C3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8173328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4EE54B7-B1FE-7D73-593E-7B43F32D427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7CB46D2A-F3F0-1AF8-84A3-FA094361AB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1C957D01-4E82-4DEE-1D36-974C5E9968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D29AA4AB-864F-75BF-E9CB-5E8109A5C80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434360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4954D197-DFAD-0F89-36AB-3BF09D6828D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3C10D2C1-874D-9352-45F2-B21CD4B2A19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B0BAF4E-817D-7365-C5B2-B4DB0007DA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876114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6C987D8-C827-CFEA-F309-C9BBD3DF7B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BD4EE110-5937-37A9-E3AF-E812B45FD9A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A959524-D942-20D9-8276-E492E57F209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0A1E27EE-8202-A29D-3162-3A59AC0F4E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DEB9CCB4-6D15-B12F-A115-914BCB3466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94C26041-8F01-ABC7-6198-0F6F96CA9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9764982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1C67F94-1BD8-FA8A-8B63-E4F6455C31A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D231CED-A1AF-3021-CB60-08D841B3323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A78D09F-6FD3-FD67-9FE7-7A1FAB08D9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42045CF-D7FB-513F-30CB-02870A7C70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3BC48D49-688F-922B-43B4-C6F8F4DF1F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4C9F8D9-DD90-A85A-0D62-F73A99667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3094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CC7D503-D7CA-97DC-4790-0EBDF5CE73B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7A71735-616C-9644-46C9-AF822EF6A18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F1B9B13-1EB7-E4C4-AC21-C710B4C7EA1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B154B18-EA91-1ED6-5337-BA184EAEB3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089B219-8A53-5F7D-3326-AF07F9E676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26739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98BDD37-0CB4-5CDF-1913-76C87C9CCD3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E1C0443C-F5E1-1517-DAB1-496D7FCC6A6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EE5A448-1767-7F14-AC1E-E0DE8A2040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353B302-E063-7B5C-61BD-F3F01305C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D80D2AB-2C99-80E1-CBBA-22A222C1C3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313111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BA21E78E-0B28-0ADC-3FBA-4EDC0948F33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26125D8D-C0CE-F358-AAC2-E545ECB9C60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E05823D0-A4D0-175C-0A7B-04234C9C30B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D87FDFA-545D-419A-B211-B40C929636C4}" type="datetimeFigureOut">
              <a:rPr lang="zh-CN" altLang="en-US" smtClean="0"/>
              <a:t>2026/5/30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E4AA764-8948-99FE-1886-FA1F4C1D64CF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275EB77-50BB-F123-477C-CDA26B8496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3F6B9CE-B724-47EA-87A3-9CEB3EA687A6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68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9F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29921A08-993F-D11C-46FA-B000588AD77D}"/>
              </a:ext>
            </a:extLst>
          </p:cNvPr>
          <p:cNvSpPr/>
          <p:nvPr/>
        </p:nvSpPr>
        <p:spPr>
          <a:xfrm>
            <a:off x="558800" y="304800"/>
            <a:ext cx="8255000" cy="609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3400" b="1">
                <a:solidFill>
                  <a:srgbClr val="102A43"/>
                </a:solidFill>
                <a:latin typeface="Segoe UI" panose="020B0502040204020203" pitchFamily="34" charset="0"/>
              </a:rPr>
              <a:t>Codex </a:t>
            </a:r>
            <a:r>
              <a:rPr lang="zh-CN" altLang="en-US" sz="3400" b="1">
                <a:solidFill>
                  <a:srgbClr val="102A43"/>
                </a:solidFill>
                <a:latin typeface="Segoe UI" panose="020B0502040204020203" pitchFamily="34" charset="0"/>
              </a:rPr>
              <a:t>实时 </a:t>
            </a:r>
            <a:r>
              <a:rPr lang="en-US" altLang="zh-CN" sz="3400" b="1">
                <a:solidFill>
                  <a:srgbClr val="102A43"/>
                </a:solidFill>
                <a:latin typeface="Segoe UI" panose="020B0502040204020203" pitchFamily="34" charset="0"/>
              </a:rPr>
              <a:t>PPT </a:t>
            </a:r>
            <a:r>
              <a:rPr lang="zh-CN" altLang="en-US" sz="3400" b="1">
                <a:solidFill>
                  <a:srgbClr val="102A43"/>
                </a:solidFill>
                <a:latin typeface="Segoe UI" panose="020B0502040204020203" pitchFamily="34" charset="0"/>
              </a:rPr>
              <a:t>画图工作流</a:t>
            </a: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DEC2DDA2-7735-890A-FE79-0E4868977DF5}"/>
              </a:ext>
            </a:extLst>
          </p:cNvPr>
          <p:cNvSpPr/>
          <p:nvPr/>
        </p:nvSpPr>
        <p:spPr>
          <a:xfrm>
            <a:off x="609600" y="927100"/>
            <a:ext cx="9906000" cy="3556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600">
                <a:solidFill>
                  <a:srgbClr val="52606D"/>
                </a:solidFill>
                <a:latin typeface="Segoe UI" panose="020B0502040204020203" pitchFamily="34" charset="0"/>
              </a:rPr>
              <a:t>用自然语言驱动 </a:t>
            </a:r>
            <a:r>
              <a:rPr lang="en-US" altLang="zh-CN" sz="1600">
                <a:solidFill>
                  <a:srgbClr val="52606D"/>
                </a:solidFill>
                <a:latin typeface="Segoe UI" panose="020B0502040204020203" pitchFamily="34" charset="0"/>
              </a:rPr>
              <a:t>PowerPoint </a:t>
            </a:r>
            <a:r>
              <a:rPr lang="zh-CN" altLang="en-US" sz="1600">
                <a:solidFill>
                  <a:srgbClr val="52606D"/>
                </a:solidFill>
                <a:latin typeface="Segoe UI" panose="020B0502040204020203" pitchFamily="34" charset="0"/>
              </a:rPr>
              <a:t>原生对象，在打开的窗口中实时生成可编辑科研图示</a:t>
            </a: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CA3D808-3359-80F7-A9B7-9BF817FB2352}"/>
              </a:ext>
            </a:extLst>
          </p:cNvPr>
          <p:cNvSpPr/>
          <p:nvPr/>
        </p:nvSpPr>
        <p:spPr>
          <a:xfrm>
            <a:off x="9779000" y="431800"/>
            <a:ext cx="1701800" cy="482600"/>
          </a:xfrm>
          <a:prstGeom prst="roundRect">
            <a:avLst>
              <a:gd name="adj" fmla="val 31579"/>
            </a:avLst>
          </a:prstGeom>
          <a:solidFill>
            <a:srgbClr val="FFFFFF"/>
          </a:solidFill>
          <a:ln w="12700">
            <a:solidFill>
              <a:srgbClr val="D0D7DE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lIns="76200" tIns="38100" rIns="76200" bIns="38100" rtlCol="0" anchor="ctr">
            <a:normAutofit/>
          </a:bodyPr>
          <a:lstStyle/>
          <a:p>
            <a:pPr algn="ctr"/>
            <a:r>
              <a:rPr lang="zh-CN" altLang="en-US" sz="1500" b="1">
                <a:solidFill>
                  <a:srgbClr val="156082"/>
                </a:solidFill>
                <a:latin typeface="Segoe UI" panose="020B0502040204020203" pitchFamily="34" charset="0"/>
              </a:rPr>
              <a:t>未自动保存</a:t>
            </a:r>
          </a:p>
        </p:txBody>
      </p:sp>
      <p:grpSp>
        <p:nvGrpSpPr>
          <p:cNvPr id="22" name="组合 21">
            <a:extLst>
              <a:ext uri="{FF2B5EF4-FFF2-40B4-BE49-F238E27FC236}">
                <a16:creationId xmlns:a16="http://schemas.microsoft.com/office/drawing/2014/main" id="{785BBEEB-9535-1C84-2F30-29E73E544814}"/>
              </a:ext>
            </a:extLst>
          </p:cNvPr>
          <p:cNvGrpSpPr/>
          <p:nvPr/>
        </p:nvGrpSpPr>
        <p:grpSpPr>
          <a:xfrm>
            <a:off x="711200" y="4648200"/>
            <a:ext cx="10668000" cy="1244600"/>
            <a:chOff x="711200" y="4648200"/>
            <a:chExt cx="10668000" cy="1244600"/>
          </a:xfrm>
        </p:grpSpPr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6E9A061F-0CD2-81F7-1A98-8D3650583752}"/>
                </a:ext>
              </a:extLst>
            </p:cNvPr>
            <p:cNvSpPr/>
            <p:nvPr/>
          </p:nvSpPr>
          <p:spPr>
            <a:xfrm>
              <a:off x="711200" y="4648200"/>
              <a:ext cx="6604000" cy="3810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sz="2400" b="1">
                  <a:solidFill>
                    <a:srgbClr val="102A43"/>
                  </a:solidFill>
                  <a:latin typeface="Segoe UI" panose="020B0502040204020203" pitchFamily="34" charset="0"/>
                </a:rPr>
                <a:t>设计原则</a:t>
              </a:r>
            </a:p>
          </p:txBody>
        </p:sp>
        <p:sp>
          <p:nvSpPr>
            <p:cNvPr id="17" name="矩形: 圆角 16">
              <a:extLst>
                <a:ext uri="{FF2B5EF4-FFF2-40B4-BE49-F238E27FC236}">
                  <a16:creationId xmlns:a16="http://schemas.microsoft.com/office/drawing/2014/main" id="{E1D8A2BF-83F2-6478-0BB2-96D668FEF68F}"/>
                </a:ext>
              </a:extLst>
            </p:cNvPr>
            <p:cNvSpPr/>
            <p:nvPr/>
          </p:nvSpPr>
          <p:spPr>
            <a:xfrm>
              <a:off x="736600" y="5207000"/>
              <a:ext cx="24130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2700">
              <a:solidFill>
                <a:srgbClr val="D0D7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6200" tIns="38100" rIns="76200" bIns="38100" rtlCol="0" anchor="ctr">
              <a:normAutofit/>
            </a:bodyPr>
            <a:lstStyle/>
            <a:p>
              <a:pPr algn="ctr"/>
              <a:r>
                <a:rPr lang="zh-CN" altLang="en-US" sz="1700" b="1">
                  <a:solidFill>
                    <a:srgbClr val="102A43"/>
                  </a:solidFill>
                  <a:latin typeface="Segoe UI" panose="020B0502040204020203" pitchFamily="34" charset="0"/>
                </a:rPr>
                <a:t>实时可见</a:t>
              </a:r>
            </a:p>
            <a:p>
              <a:pPr algn="ctr"/>
              <a:r>
                <a:rPr lang="zh-CN" altLang="en-US" sz="1700" b="1">
                  <a:solidFill>
                    <a:srgbClr val="102A43"/>
                  </a:solidFill>
                  <a:latin typeface="Segoe UI" panose="020B0502040204020203" pitchFamily="34" charset="0"/>
                </a:rPr>
                <a:t>窗口中直接出现效果</a:t>
              </a:r>
            </a:p>
          </p:txBody>
        </p:sp>
        <p:sp>
          <p:nvSpPr>
            <p:cNvPr id="18" name="矩形: 圆角 17">
              <a:extLst>
                <a:ext uri="{FF2B5EF4-FFF2-40B4-BE49-F238E27FC236}">
                  <a16:creationId xmlns:a16="http://schemas.microsoft.com/office/drawing/2014/main" id="{CA466FB3-BF9B-3F11-416E-C04C4355A668}"/>
                </a:ext>
              </a:extLst>
            </p:cNvPr>
            <p:cNvSpPr/>
            <p:nvPr/>
          </p:nvSpPr>
          <p:spPr>
            <a:xfrm>
              <a:off x="3479800" y="5207000"/>
              <a:ext cx="24130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2700">
              <a:solidFill>
                <a:srgbClr val="D0D7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6200" tIns="38100" rIns="76200" bIns="38100" rtlCol="0" anchor="ctr">
              <a:normAutofit/>
            </a:bodyPr>
            <a:lstStyle/>
            <a:p>
              <a:pPr algn="ctr"/>
              <a:r>
                <a:rPr lang="zh-CN" altLang="en-US" sz="1700" b="1">
                  <a:solidFill>
                    <a:srgbClr val="102A43"/>
                  </a:solidFill>
                  <a:latin typeface="Segoe UI" panose="020B0502040204020203" pitchFamily="34" charset="0"/>
                </a:rPr>
                <a:t>原生可编辑</a:t>
              </a:r>
            </a:p>
            <a:p>
              <a:pPr algn="ctr"/>
              <a:r>
                <a:rPr lang="zh-CN" altLang="en-US" sz="1700" b="1">
                  <a:solidFill>
                    <a:srgbClr val="102A43"/>
                  </a:solidFill>
                  <a:latin typeface="Segoe UI" panose="020B0502040204020203" pitchFamily="34" charset="0"/>
                </a:rPr>
                <a:t>形状、文本、连接线</a:t>
              </a:r>
            </a:p>
          </p:txBody>
        </p:sp>
        <p:sp>
          <p:nvSpPr>
            <p:cNvPr id="19" name="矩形: 圆角 18">
              <a:extLst>
                <a:ext uri="{FF2B5EF4-FFF2-40B4-BE49-F238E27FC236}">
                  <a16:creationId xmlns:a16="http://schemas.microsoft.com/office/drawing/2014/main" id="{71445B69-92F5-7181-7D70-BD578311EDB5}"/>
                </a:ext>
              </a:extLst>
            </p:cNvPr>
            <p:cNvSpPr/>
            <p:nvPr/>
          </p:nvSpPr>
          <p:spPr>
            <a:xfrm>
              <a:off x="6223000" y="5207000"/>
              <a:ext cx="24130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2700">
              <a:solidFill>
                <a:srgbClr val="D0D7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6200" tIns="38100" rIns="76200" bIns="38100" rtlCol="0" anchor="ctr">
              <a:normAutofit/>
            </a:bodyPr>
            <a:lstStyle/>
            <a:p>
              <a:pPr algn="ctr"/>
              <a:r>
                <a:rPr lang="zh-CN" altLang="en-US" sz="1700" b="1">
                  <a:solidFill>
                    <a:srgbClr val="102A43"/>
                  </a:solidFill>
                  <a:latin typeface="Segoe UI" panose="020B0502040204020203" pitchFamily="34" charset="0"/>
                </a:rPr>
                <a:t>非破坏式新增</a:t>
              </a:r>
            </a:p>
            <a:p>
              <a:pPr algn="ctr"/>
              <a:r>
                <a:rPr lang="zh-CN" altLang="en-US" sz="1700" b="1">
                  <a:solidFill>
                    <a:srgbClr val="102A43"/>
                  </a:solidFill>
                  <a:latin typeface="Segoe UI" panose="020B0502040204020203" pitchFamily="34" charset="0"/>
                </a:rPr>
                <a:t>不默认删除旧内容</a:t>
              </a:r>
            </a:p>
          </p:txBody>
        </p:sp>
        <p:sp>
          <p:nvSpPr>
            <p:cNvPr id="20" name="矩形: 圆角 19">
              <a:extLst>
                <a:ext uri="{FF2B5EF4-FFF2-40B4-BE49-F238E27FC236}">
                  <a16:creationId xmlns:a16="http://schemas.microsoft.com/office/drawing/2014/main" id="{A9ACAD06-BFA6-8AE4-A7A0-A1C38312ABA0}"/>
                </a:ext>
              </a:extLst>
            </p:cNvPr>
            <p:cNvSpPr/>
            <p:nvPr/>
          </p:nvSpPr>
          <p:spPr>
            <a:xfrm>
              <a:off x="8966200" y="5207000"/>
              <a:ext cx="2413000" cy="685800"/>
            </a:xfrm>
            <a:prstGeom prst="roundRect">
              <a:avLst>
                <a:gd name="adj" fmla="val 22222"/>
              </a:avLst>
            </a:prstGeom>
            <a:solidFill>
              <a:srgbClr val="FFFFFF"/>
            </a:solidFill>
            <a:ln w="12700">
              <a:solidFill>
                <a:srgbClr val="D0D7DE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6200" tIns="38100" rIns="76200" bIns="38100" rtlCol="0" anchor="ctr">
              <a:normAutofit/>
            </a:bodyPr>
            <a:lstStyle/>
            <a:p>
              <a:pPr algn="ctr"/>
              <a:r>
                <a:rPr lang="zh-CN" altLang="en-US" sz="1700" b="1">
                  <a:solidFill>
                    <a:srgbClr val="102A43"/>
                  </a:solidFill>
                  <a:latin typeface="Segoe UI" panose="020B0502040204020203" pitchFamily="34" charset="0"/>
                </a:rPr>
                <a:t>默认不保存</a:t>
              </a:r>
            </a:p>
            <a:p>
              <a:pPr algn="ctr"/>
              <a:r>
                <a:rPr lang="zh-CN" altLang="en-US" sz="1700" b="1">
                  <a:solidFill>
                    <a:srgbClr val="102A43"/>
                  </a:solidFill>
                  <a:latin typeface="Segoe UI" panose="020B0502040204020203" pitchFamily="34" charset="0"/>
                </a:rPr>
                <a:t>避免覆盖活动文件</a:t>
              </a:r>
            </a:p>
          </p:txBody>
        </p:sp>
      </p:grpSp>
      <p:grpSp>
        <p:nvGrpSpPr>
          <p:cNvPr id="38" name="组合 37">
            <a:extLst>
              <a:ext uri="{FF2B5EF4-FFF2-40B4-BE49-F238E27FC236}">
                <a16:creationId xmlns:a16="http://schemas.microsoft.com/office/drawing/2014/main" id="{FB7361F3-1CC5-1A37-E972-733A79D41274}"/>
              </a:ext>
            </a:extLst>
          </p:cNvPr>
          <p:cNvGrpSpPr/>
          <p:nvPr/>
        </p:nvGrpSpPr>
        <p:grpSpPr>
          <a:xfrm>
            <a:off x="431800" y="1600200"/>
            <a:ext cx="11328400" cy="2489200"/>
            <a:chOff x="431800" y="1600200"/>
            <a:chExt cx="11328400" cy="2489200"/>
          </a:xfrm>
        </p:grpSpPr>
        <p:sp>
          <p:nvSpPr>
            <p:cNvPr id="24" name="矩形: 圆角 23">
              <a:extLst>
                <a:ext uri="{FF2B5EF4-FFF2-40B4-BE49-F238E27FC236}">
                  <a16:creationId xmlns:a16="http://schemas.microsoft.com/office/drawing/2014/main" id="{6376AAA9-6291-5AD7-E114-BCAFECC689DD}"/>
                </a:ext>
              </a:extLst>
            </p:cNvPr>
            <p:cNvSpPr/>
            <p:nvPr/>
          </p:nvSpPr>
          <p:spPr>
            <a:xfrm>
              <a:off x="431800" y="1600200"/>
              <a:ext cx="11328400" cy="2489200"/>
            </a:xfrm>
            <a:prstGeom prst="roundRect">
              <a:avLst>
                <a:gd name="adj" fmla="val 7143"/>
              </a:avLst>
            </a:prstGeom>
            <a:solidFill>
              <a:srgbClr val="FFFFFF"/>
            </a:solidFill>
            <a:ln w="12700">
              <a:solidFill>
                <a:srgbClr val="E3E8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6D89D4D6-6263-9589-F388-68C395975E6F}"/>
                </a:ext>
              </a:extLst>
            </p:cNvPr>
            <p:cNvSpPr/>
            <p:nvPr/>
          </p:nvSpPr>
          <p:spPr>
            <a:xfrm>
              <a:off x="990600" y="1854200"/>
              <a:ext cx="6604000" cy="3048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zh-CN" altLang="en-US" b="1">
                  <a:solidFill>
                    <a:srgbClr val="156082"/>
                  </a:solidFill>
                  <a:latin typeface="Segoe UI" panose="020B0502040204020203" pitchFamily="34" charset="0"/>
                </a:rPr>
                <a:t>一句话概括：自然语言  →  </a:t>
              </a:r>
              <a:r>
                <a:rPr lang="en-US" altLang="zh-CN" b="1">
                  <a:solidFill>
                    <a:srgbClr val="156082"/>
                  </a:solidFill>
                  <a:latin typeface="Segoe UI" panose="020B0502040204020203" pitchFamily="34" charset="0"/>
                </a:rPr>
                <a:t>PowerPoint </a:t>
              </a:r>
              <a:r>
                <a:rPr lang="zh-CN" altLang="en-US" b="1">
                  <a:solidFill>
                    <a:srgbClr val="156082"/>
                  </a:solidFill>
                  <a:latin typeface="Segoe UI" panose="020B0502040204020203" pitchFamily="34" charset="0"/>
                </a:rPr>
                <a:t>原生可编辑对象</a:t>
              </a:r>
            </a:p>
          </p:txBody>
        </p:sp>
        <p:sp>
          <p:nvSpPr>
            <p:cNvPr id="26" name="矩形: 圆角 25">
              <a:extLst>
                <a:ext uri="{FF2B5EF4-FFF2-40B4-BE49-F238E27FC236}">
                  <a16:creationId xmlns:a16="http://schemas.microsoft.com/office/drawing/2014/main" id="{D9931D34-BB5D-AE8A-71A4-76D54D6B63CE}"/>
                </a:ext>
              </a:extLst>
            </p:cNvPr>
            <p:cNvSpPr/>
            <p:nvPr/>
          </p:nvSpPr>
          <p:spPr>
            <a:xfrm>
              <a:off x="965200" y="2514600"/>
              <a:ext cx="1473200" cy="990600"/>
            </a:xfrm>
            <a:prstGeom prst="roundRect">
              <a:avLst>
                <a:gd name="adj" fmla="val 12821"/>
              </a:avLst>
            </a:prstGeom>
            <a:solidFill>
              <a:srgbClr val="EAF4FA"/>
            </a:solidFill>
            <a:ln w="15240">
              <a:solidFill>
                <a:srgbClr val="9CC9DB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6200" tIns="38100" rIns="76200" bIns="38100" rtlCol="0" anchor="ctr">
              <a:normAutofit/>
            </a:bodyPr>
            <a:lstStyle/>
            <a:p>
              <a:pPr algn="ctr"/>
              <a:r>
                <a:rPr lang="en-US" altLang="zh-CN" sz="1600" b="1" dirty="0">
                  <a:solidFill>
                    <a:srgbClr val="102A43"/>
                  </a:solidFill>
                  <a:latin typeface="Segoe UI" panose="020B0502040204020203" pitchFamily="34" charset="0"/>
                </a:rPr>
                <a:t>1</a:t>
              </a:r>
            </a:p>
            <a:p>
              <a:pPr algn="ctr"/>
              <a:r>
                <a:rPr lang="zh-CN" altLang="en-US" sz="1600" b="1" dirty="0">
                  <a:solidFill>
                    <a:srgbClr val="102A43"/>
                  </a:solidFill>
                  <a:latin typeface="Segoe UI" panose="020B0502040204020203" pitchFamily="34" charset="0"/>
                </a:rPr>
                <a:t>指令</a:t>
              </a:r>
            </a:p>
            <a:p>
              <a:pPr algn="ctr"/>
              <a:r>
                <a:rPr lang="zh-CN" altLang="en-US" sz="1600" b="1" dirty="0">
                  <a:solidFill>
                    <a:srgbClr val="102A43"/>
                  </a:solidFill>
                  <a:latin typeface="Segoe UI" panose="020B0502040204020203" pitchFamily="34" charset="0"/>
                </a:rPr>
                <a:t>目标 </a:t>
              </a:r>
              <a:r>
                <a:rPr lang="en-US" altLang="zh-CN" sz="1600" b="1" dirty="0">
                  <a:solidFill>
                    <a:srgbClr val="102A43"/>
                  </a:solidFill>
                  <a:latin typeface="Segoe UI" panose="020B0502040204020203" pitchFamily="34" charset="0"/>
                </a:rPr>
                <a:t>/ </a:t>
              </a:r>
              <a:r>
                <a:rPr lang="zh-CN" altLang="en-US" sz="1600" b="1" dirty="0">
                  <a:solidFill>
                    <a:srgbClr val="102A43"/>
                  </a:solidFill>
                  <a:latin typeface="Segoe UI" panose="020B0502040204020203" pitchFamily="34" charset="0"/>
                </a:rPr>
                <a:t>风格</a:t>
              </a:r>
            </a:p>
          </p:txBody>
        </p:sp>
        <p:sp>
          <p:nvSpPr>
            <p:cNvPr id="27" name="箭头: 右 26">
              <a:extLst>
                <a:ext uri="{FF2B5EF4-FFF2-40B4-BE49-F238E27FC236}">
                  <a16:creationId xmlns:a16="http://schemas.microsoft.com/office/drawing/2014/main" id="{133D9A75-8F45-1836-F51B-CF6FE78EA457}"/>
                </a:ext>
              </a:extLst>
            </p:cNvPr>
            <p:cNvSpPr/>
            <p:nvPr/>
          </p:nvSpPr>
          <p:spPr>
            <a:xfrm>
              <a:off x="2603500" y="2806700"/>
              <a:ext cx="381000" cy="355600"/>
            </a:xfrm>
            <a:prstGeom prst="rightArrow">
              <a:avLst/>
            </a:prstGeom>
            <a:gradFill flip="none" rotWithShape="1">
              <a:gsLst>
                <a:gs pos="0">
                  <a:srgbClr val="156082"/>
                </a:gs>
                <a:gs pos="100000">
                  <a:srgbClr val="0F9ED5"/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矩形: 圆角 27">
              <a:extLst>
                <a:ext uri="{FF2B5EF4-FFF2-40B4-BE49-F238E27FC236}">
                  <a16:creationId xmlns:a16="http://schemas.microsoft.com/office/drawing/2014/main" id="{F7FDEED7-C03D-CF90-BD61-66A42E15A04A}"/>
                </a:ext>
              </a:extLst>
            </p:cNvPr>
            <p:cNvSpPr/>
            <p:nvPr/>
          </p:nvSpPr>
          <p:spPr>
            <a:xfrm>
              <a:off x="3225800" y="2514600"/>
              <a:ext cx="1473200" cy="990600"/>
            </a:xfrm>
            <a:prstGeom prst="roundRect">
              <a:avLst>
                <a:gd name="adj" fmla="val 12821"/>
              </a:avLst>
            </a:prstGeom>
            <a:solidFill>
              <a:srgbClr val="EEF6FF"/>
            </a:solidFill>
            <a:ln w="15240">
              <a:solidFill>
                <a:srgbClr val="9BB8D3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6200" tIns="38100" rIns="76200" bIns="38100" rtlCol="0" anchor="ctr">
              <a:normAutofit/>
            </a:bodyPr>
            <a:lstStyle/>
            <a:p>
              <a:pPr algn="ctr"/>
              <a:r>
                <a:rPr lang="en-US" altLang="zh-CN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2</a:t>
              </a:r>
            </a:p>
            <a:p>
              <a:pPr algn="ctr"/>
              <a:r>
                <a:rPr lang="zh-CN" altLang="en-US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路由</a:t>
              </a:r>
            </a:p>
            <a:p>
              <a:pPr algn="ctr"/>
              <a:r>
                <a:rPr lang="zh-CN" altLang="en-US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匹配配方</a:t>
              </a:r>
            </a:p>
          </p:txBody>
        </p:sp>
        <p:sp>
          <p:nvSpPr>
            <p:cNvPr id="29" name="箭头: 右 28">
              <a:extLst>
                <a:ext uri="{FF2B5EF4-FFF2-40B4-BE49-F238E27FC236}">
                  <a16:creationId xmlns:a16="http://schemas.microsoft.com/office/drawing/2014/main" id="{802C95E0-E154-A96B-9209-789162A3C2D7}"/>
                </a:ext>
              </a:extLst>
            </p:cNvPr>
            <p:cNvSpPr/>
            <p:nvPr/>
          </p:nvSpPr>
          <p:spPr>
            <a:xfrm>
              <a:off x="4864100" y="2806700"/>
              <a:ext cx="381000" cy="355600"/>
            </a:xfrm>
            <a:prstGeom prst="rightArrow">
              <a:avLst/>
            </a:prstGeom>
            <a:gradFill flip="none" rotWithShape="1">
              <a:gsLst>
                <a:gs pos="0">
                  <a:srgbClr val="0F9ED5"/>
                </a:gs>
                <a:gs pos="100000">
                  <a:srgbClr val="196B24"/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0" name="矩形: 圆角 29">
              <a:extLst>
                <a:ext uri="{FF2B5EF4-FFF2-40B4-BE49-F238E27FC236}">
                  <a16:creationId xmlns:a16="http://schemas.microsoft.com/office/drawing/2014/main" id="{CEEA1AF5-52DF-FD88-7236-DC2248DAC131}"/>
                </a:ext>
              </a:extLst>
            </p:cNvPr>
            <p:cNvSpPr/>
            <p:nvPr/>
          </p:nvSpPr>
          <p:spPr>
            <a:xfrm>
              <a:off x="5486400" y="2514600"/>
              <a:ext cx="1473200" cy="990600"/>
            </a:xfrm>
            <a:prstGeom prst="roundRect">
              <a:avLst>
                <a:gd name="adj" fmla="val 12821"/>
              </a:avLst>
            </a:prstGeom>
            <a:solidFill>
              <a:srgbClr val="FFF3E5"/>
            </a:solidFill>
            <a:ln w="15240">
              <a:solidFill>
                <a:srgbClr val="E6B77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3500" tIns="38100" rIns="63500" bIns="38100" rtlCol="0" anchor="ctr">
              <a:normAutofit fontScale="92500" lnSpcReduction="10000"/>
            </a:bodyPr>
            <a:lstStyle/>
            <a:p>
              <a:pPr algn="ctr"/>
              <a:r>
                <a:rPr lang="pt-BR" altLang="zh-CN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3</a:t>
              </a:r>
            </a:p>
            <a:p>
              <a:pPr algn="ctr"/>
              <a:r>
                <a:rPr lang="zh-CN" altLang="pt-BR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后端</a:t>
              </a:r>
            </a:p>
            <a:p>
              <a:pPr algn="ctr"/>
              <a:r>
                <a:rPr lang="pt-BR" altLang="zh-CN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MCP / CLI / COM</a:t>
              </a:r>
              <a:endParaRPr lang="zh-CN" altLang="en-US" sz="1600" b="1">
                <a:solidFill>
                  <a:srgbClr val="102A43"/>
                </a:solidFill>
                <a:latin typeface="Segoe UI" panose="020B0502040204020203" pitchFamily="34" charset="0"/>
              </a:endParaRPr>
            </a:p>
          </p:txBody>
        </p:sp>
        <p:sp>
          <p:nvSpPr>
            <p:cNvPr id="31" name="箭头: 右 30">
              <a:extLst>
                <a:ext uri="{FF2B5EF4-FFF2-40B4-BE49-F238E27FC236}">
                  <a16:creationId xmlns:a16="http://schemas.microsoft.com/office/drawing/2014/main" id="{F6A94306-B099-D7F6-14B7-B7162BC1EA1F}"/>
                </a:ext>
              </a:extLst>
            </p:cNvPr>
            <p:cNvSpPr/>
            <p:nvPr/>
          </p:nvSpPr>
          <p:spPr>
            <a:xfrm>
              <a:off x="7124700" y="2806700"/>
              <a:ext cx="381000" cy="355600"/>
            </a:xfrm>
            <a:prstGeom prst="rightArrow">
              <a:avLst/>
            </a:prstGeom>
            <a:gradFill flip="none" rotWithShape="1">
              <a:gsLst>
                <a:gs pos="0">
                  <a:srgbClr val="196B24"/>
                </a:gs>
                <a:gs pos="100000">
                  <a:srgbClr val="4EA72E"/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: 圆角 31">
              <a:extLst>
                <a:ext uri="{FF2B5EF4-FFF2-40B4-BE49-F238E27FC236}">
                  <a16:creationId xmlns:a16="http://schemas.microsoft.com/office/drawing/2014/main" id="{FA10A841-C67B-751E-8A3D-690624ACBD6C}"/>
                </a:ext>
              </a:extLst>
            </p:cNvPr>
            <p:cNvSpPr/>
            <p:nvPr/>
          </p:nvSpPr>
          <p:spPr>
            <a:xfrm>
              <a:off x="7747000" y="2514600"/>
              <a:ext cx="1473200" cy="990600"/>
            </a:xfrm>
            <a:prstGeom prst="roundRect">
              <a:avLst>
                <a:gd name="adj" fmla="val 12821"/>
              </a:avLst>
            </a:prstGeom>
            <a:solidFill>
              <a:srgbClr val="EAF7EF"/>
            </a:solidFill>
            <a:ln w="15240">
              <a:solidFill>
                <a:srgbClr val="8AC79A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6200" tIns="38100" rIns="76200" bIns="38100" rtlCol="0" anchor="ctr">
              <a:normAutofit/>
            </a:bodyPr>
            <a:lstStyle/>
            <a:p>
              <a:pPr algn="ctr"/>
              <a:r>
                <a:rPr lang="en-US" altLang="zh-CN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4</a:t>
              </a:r>
            </a:p>
            <a:p>
              <a:pPr algn="ctr"/>
              <a:r>
                <a:rPr lang="zh-CN" altLang="en-US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绘制</a:t>
              </a:r>
            </a:p>
            <a:p>
              <a:pPr algn="ctr"/>
              <a:r>
                <a:rPr lang="zh-CN" altLang="en-US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当前 </a:t>
              </a:r>
              <a:r>
                <a:rPr lang="en-US" altLang="zh-CN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/ </a:t>
              </a:r>
              <a:r>
                <a:rPr lang="zh-CN" altLang="en-US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新页</a:t>
              </a:r>
            </a:p>
          </p:txBody>
        </p:sp>
        <p:sp>
          <p:nvSpPr>
            <p:cNvPr id="33" name="箭头: 右 32">
              <a:extLst>
                <a:ext uri="{FF2B5EF4-FFF2-40B4-BE49-F238E27FC236}">
                  <a16:creationId xmlns:a16="http://schemas.microsoft.com/office/drawing/2014/main" id="{D439F6BC-CF9C-F29B-53A0-56E9E2894F67}"/>
                </a:ext>
              </a:extLst>
            </p:cNvPr>
            <p:cNvSpPr/>
            <p:nvPr/>
          </p:nvSpPr>
          <p:spPr>
            <a:xfrm>
              <a:off x="9385300" y="2806700"/>
              <a:ext cx="381000" cy="355600"/>
            </a:xfrm>
            <a:prstGeom prst="rightArrow">
              <a:avLst/>
            </a:prstGeom>
            <a:gradFill flip="none" rotWithShape="1">
              <a:gsLst>
                <a:gs pos="0">
                  <a:srgbClr val="4EA72E"/>
                </a:gs>
                <a:gs pos="100000">
                  <a:srgbClr val="A02B93"/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4" name="矩形: 圆角 33">
              <a:extLst>
                <a:ext uri="{FF2B5EF4-FFF2-40B4-BE49-F238E27FC236}">
                  <a16:creationId xmlns:a16="http://schemas.microsoft.com/office/drawing/2014/main" id="{2DE54669-57F4-E18C-8515-CFBA7F4D1955}"/>
                </a:ext>
              </a:extLst>
            </p:cNvPr>
            <p:cNvSpPr/>
            <p:nvPr/>
          </p:nvSpPr>
          <p:spPr>
            <a:xfrm>
              <a:off x="10007600" y="2514600"/>
              <a:ext cx="1473200" cy="990600"/>
            </a:xfrm>
            <a:prstGeom prst="roundRect">
              <a:avLst>
                <a:gd name="adj" fmla="val 12821"/>
              </a:avLst>
            </a:prstGeom>
            <a:solidFill>
              <a:srgbClr val="F4ECFA"/>
            </a:solidFill>
            <a:ln w="15240">
              <a:solidFill>
                <a:srgbClr val="C6A2D5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63500" tIns="38100" rIns="63500" bIns="38100" rtlCol="0" anchor="ctr">
              <a:normAutofit/>
            </a:bodyPr>
            <a:lstStyle/>
            <a:p>
              <a:pPr algn="ctr"/>
              <a:r>
                <a:rPr lang="en-US" altLang="zh-CN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5</a:t>
              </a:r>
            </a:p>
            <a:p>
              <a:pPr algn="ctr"/>
              <a:r>
                <a:rPr lang="zh-CN" altLang="en-US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编辑</a:t>
              </a:r>
            </a:p>
            <a:p>
              <a:pPr algn="ctr"/>
              <a:r>
                <a:rPr lang="zh-CN" altLang="en-US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形状 </a:t>
              </a:r>
              <a:r>
                <a:rPr lang="en-US" altLang="zh-CN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/ </a:t>
              </a:r>
              <a:r>
                <a:rPr lang="zh-CN" altLang="en-US" sz="1600" b="1">
                  <a:solidFill>
                    <a:srgbClr val="102A43"/>
                  </a:solidFill>
                  <a:latin typeface="Segoe UI" panose="020B0502040204020203" pitchFamily="34" charset="0"/>
                </a:rPr>
                <a:t>文本</a:t>
              </a:r>
            </a:p>
          </p:txBody>
        </p:sp>
        <p:sp>
          <p:nvSpPr>
            <p:cNvPr id="35" name="矩形: 圆角 34">
              <a:extLst>
                <a:ext uri="{FF2B5EF4-FFF2-40B4-BE49-F238E27FC236}">
                  <a16:creationId xmlns:a16="http://schemas.microsoft.com/office/drawing/2014/main" id="{18C60E8E-986A-7634-577E-951F66887678}"/>
                </a:ext>
              </a:extLst>
            </p:cNvPr>
            <p:cNvSpPr/>
            <p:nvPr/>
          </p:nvSpPr>
          <p:spPr>
            <a:xfrm>
              <a:off x="3937000" y="3683000"/>
              <a:ext cx="4318000" cy="304800"/>
            </a:xfrm>
            <a:prstGeom prst="roundRect">
              <a:avLst>
                <a:gd name="adj" fmla="val 41667"/>
              </a:avLst>
            </a:prstGeom>
            <a:solidFill>
              <a:srgbClr val="F7F9FB"/>
            </a:solidFill>
            <a:ln w="10160">
              <a:solidFill>
                <a:srgbClr val="E3E8E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lIns="76200" tIns="25400" rIns="76200" bIns="25400" rtlCol="0" anchor="ctr">
              <a:normAutofit fontScale="85000" lnSpcReduction="20000"/>
            </a:bodyPr>
            <a:lstStyle/>
            <a:p>
              <a:pPr algn="ctr"/>
              <a:r>
                <a:rPr lang="zh-CN" altLang="en-US" sz="1600" b="1">
                  <a:solidFill>
                    <a:srgbClr val="52606D"/>
                  </a:solidFill>
                  <a:latin typeface="Segoe UI" panose="020B0502040204020203" pitchFamily="34" charset="0"/>
                </a:rPr>
                <a:t>实时可见 </a:t>
              </a:r>
              <a:r>
                <a:rPr lang="en-US" altLang="zh-CN" sz="1600" b="1">
                  <a:solidFill>
                    <a:srgbClr val="52606D"/>
                  </a:solidFill>
                  <a:latin typeface="Segoe UI" panose="020B0502040204020203" pitchFamily="34" charset="0"/>
                </a:rPr>
                <a:t>· </a:t>
              </a:r>
              <a:r>
                <a:rPr lang="zh-CN" altLang="en-US" sz="1600" b="1">
                  <a:solidFill>
                    <a:srgbClr val="52606D"/>
                  </a:solidFill>
                  <a:latin typeface="Segoe UI" panose="020B0502040204020203" pitchFamily="34" charset="0"/>
                </a:rPr>
                <a:t>原生可编辑 </a:t>
              </a:r>
              <a:r>
                <a:rPr lang="en-US" altLang="zh-CN" sz="1600" b="1">
                  <a:solidFill>
                    <a:srgbClr val="52606D"/>
                  </a:solidFill>
                  <a:latin typeface="Segoe UI" panose="020B0502040204020203" pitchFamily="34" charset="0"/>
                </a:rPr>
                <a:t>· </a:t>
              </a:r>
              <a:r>
                <a:rPr lang="zh-CN" altLang="en-US" sz="1600" b="1">
                  <a:solidFill>
                    <a:srgbClr val="52606D"/>
                  </a:solidFill>
                  <a:latin typeface="Segoe UI" panose="020B0502040204020203" pitchFamily="34" charset="0"/>
                </a:rPr>
                <a:t>默认不保存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93215935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EA08B0D9-80B6-1778-7644-FD3F0B3EEB25}"/>
              </a:ext>
            </a:extLst>
          </p:cNvPr>
          <p:cNvSpPr/>
          <p:nvPr/>
        </p:nvSpPr>
        <p:spPr>
          <a:xfrm>
            <a:off x="660400" y="355600"/>
            <a:ext cx="7747000" cy="533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2700" b="1">
                <a:solidFill>
                  <a:srgbClr val="111111"/>
                </a:solidFill>
                <a:latin typeface="Times New Roman" panose="02020603050405020304" pitchFamily="18" charset="0"/>
              </a:rPr>
              <a:t>IEEE-style Workflow for Live PowerPoint Diagramming</a:t>
            </a:r>
            <a:endParaRPr lang="zh-CN" altLang="en-US" sz="2700" b="1">
              <a:solidFill>
                <a:srgbClr val="111111"/>
              </a:solidFill>
              <a:latin typeface="Times New Roman" panose="02020603050405020304" pitchFamily="18" charset="0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24BA8182-8B6A-A2CD-31BD-863C81684CB2}"/>
              </a:ext>
            </a:extLst>
          </p:cNvPr>
          <p:cNvSpPr/>
          <p:nvPr/>
        </p:nvSpPr>
        <p:spPr>
          <a:xfrm>
            <a:off x="685800" y="914400"/>
            <a:ext cx="5461000" cy="2794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altLang="zh-CN" sz="1500" i="1">
                <a:solidFill>
                  <a:srgbClr val="444444"/>
                </a:solidFill>
                <a:latin typeface="Times New Roman" panose="02020603050405020304" pitchFamily="18" charset="0"/>
              </a:rPr>
              <a:t>Editable native shapes generated from natural-language instructions</a:t>
            </a:r>
            <a:endParaRPr lang="zh-CN" altLang="en-US" sz="1500" i="1">
              <a:solidFill>
                <a:srgbClr val="444444"/>
              </a:solidFill>
              <a:latin typeface="Times New Roman" panose="02020603050405020304" pitchFamily="18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9BEE4FE-C57E-D8AB-3ED4-EF1DC0E74CDE}"/>
              </a:ext>
            </a:extLst>
          </p:cNvPr>
          <p:cNvSpPr/>
          <p:nvPr/>
        </p:nvSpPr>
        <p:spPr>
          <a:xfrm>
            <a:off x="660400" y="1320800"/>
            <a:ext cx="10871200" cy="15240"/>
          </a:xfrm>
          <a:prstGeom prst="rect">
            <a:avLst/>
          </a:prstGeom>
          <a:solidFill>
            <a:srgbClr val="11111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4F0FE85-023C-9409-27A5-3E63CED6FDC8}"/>
              </a:ext>
            </a:extLst>
          </p:cNvPr>
          <p:cNvSpPr/>
          <p:nvPr/>
        </p:nvSpPr>
        <p:spPr>
          <a:xfrm>
            <a:off x="1524000" y="6146800"/>
            <a:ext cx="9144000" cy="304800"/>
          </a:xfrm>
          <a:prstGeom prst="rect">
            <a:avLst/>
          </a:prstGeom>
          <a:noFill/>
          <a:ln w="19050" cap="flat" cmpd="sng" algn="ctr">
            <a:noFill/>
            <a:prstDash val="solid"/>
            <a:miter lim="800000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i="1">
                <a:solidFill>
                  <a:srgbClr val="333333"/>
                </a:solidFill>
                <a:latin typeface="Times New Roman" panose="02020603050405020304" pitchFamily="18" charset="0"/>
              </a:rPr>
              <a:t>Fig. 2. Workflow of live PowerPoint diagram generation with editable native objects.</a:t>
            </a:r>
            <a:endParaRPr lang="zh-CN" altLang="en-US" sz="1600" i="1">
              <a:solidFill>
                <a:srgbClr val="333333"/>
              </a:solidFill>
              <a:latin typeface="Times New Roman" panose="02020603050405020304" pitchFamily="18" charset="0"/>
            </a:endParaRPr>
          </a:p>
        </p:txBody>
      </p: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6AD2A069-7BFD-0DD7-9F20-5DCA661B2534}"/>
              </a:ext>
            </a:extLst>
          </p:cNvPr>
          <p:cNvGrpSpPr/>
          <p:nvPr/>
        </p:nvGrpSpPr>
        <p:grpSpPr>
          <a:xfrm>
            <a:off x="8763000" y="1473200"/>
            <a:ext cx="2413000" cy="4368800"/>
            <a:chOff x="8763000" y="1473200"/>
            <a:chExt cx="2413000" cy="4368800"/>
          </a:xfrm>
        </p:grpSpPr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85D7004-72A4-9FA0-6826-800D4AC9387D}"/>
                </a:ext>
              </a:extLst>
            </p:cNvPr>
            <p:cNvSpPr/>
            <p:nvPr/>
          </p:nvSpPr>
          <p:spPr>
            <a:xfrm>
              <a:off x="8763000" y="4749800"/>
              <a:ext cx="2413000" cy="1092200"/>
            </a:xfrm>
            <a:prstGeom prst="rect">
              <a:avLst/>
            </a:prstGeom>
            <a:solidFill>
              <a:srgbClr val="FFFFFF"/>
            </a:solidFill>
            <a:ln w="11430">
              <a:solidFill>
                <a:srgbClr val="777777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600">
                  <a:solidFill>
                    <a:srgbClr val="111111"/>
                  </a:solidFill>
                  <a:latin typeface="Times New Roman" panose="02020603050405020304" pitchFamily="18" charset="0"/>
                </a:rPr>
                <a:t>Safety checks</a:t>
              </a:r>
            </a:p>
            <a:p>
              <a:r>
                <a:rPr lang="en-US" altLang="zh-CN" sz="1600">
                  <a:solidFill>
                    <a:srgbClr val="111111"/>
                  </a:solidFill>
                  <a:latin typeface="Times New Roman" panose="02020603050405020304" pitchFamily="18" charset="0"/>
                </a:rPr>
                <a:t>• preserve existing content</a:t>
              </a:r>
            </a:p>
            <a:p>
              <a:r>
                <a:rPr lang="en-US" altLang="zh-CN" sz="1600">
                  <a:solidFill>
                    <a:srgbClr val="111111"/>
                  </a:solidFill>
                  <a:latin typeface="Times New Roman" panose="02020603050405020304" pitchFamily="18" charset="0"/>
                </a:rPr>
                <a:t>• no automatic save</a:t>
              </a:r>
            </a:p>
            <a:p>
              <a:r>
                <a:rPr lang="en-US" altLang="zh-CN" sz="1600">
                  <a:solidFill>
                    <a:srgbClr val="111111"/>
                  </a:solidFill>
                  <a:latin typeface="Times New Roman" panose="02020603050405020304" pitchFamily="18" charset="0"/>
                </a:rPr>
                <a:t>• no bitmap-by-default</a:t>
              </a:r>
              <a:endParaRPr lang="zh-CN" altLang="en-US" sz="1600">
                <a:solidFill>
                  <a:srgbClr val="11111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2D290833-AE29-6278-3215-7939E4C47563}"/>
                </a:ext>
              </a:extLst>
            </p:cNvPr>
            <p:cNvSpPr/>
            <p:nvPr/>
          </p:nvSpPr>
          <p:spPr>
            <a:xfrm>
              <a:off x="9017000" y="1473200"/>
              <a:ext cx="1905000" cy="4064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600" b="1">
                  <a:solidFill>
                    <a:srgbClr val="156082"/>
                  </a:solidFill>
                  <a:latin typeface="Times New Roman" panose="02020603050405020304" pitchFamily="18" charset="0"/>
                </a:rPr>
                <a:t>IEEE visual cues</a:t>
              </a:r>
              <a:endParaRPr lang="zh-CN" altLang="en-US" sz="1600" b="1">
                <a:solidFill>
                  <a:srgbClr val="156082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5ECCA017-CB5E-7E36-AEE7-6658CDFF6EF3}"/>
                </a:ext>
              </a:extLst>
            </p:cNvPr>
            <p:cNvSpPr/>
            <p:nvPr/>
          </p:nvSpPr>
          <p:spPr>
            <a:xfrm>
              <a:off x="9017000" y="1905000"/>
              <a:ext cx="2032000" cy="838200"/>
            </a:xfrm>
            <a:prstGeom prst="rect">
              <a:avLst/>
            </a:prstGeom>
            <a:noFill/>
            <a:ln w="19050" cap="flat" cmpd="sng" algn="ctr">
              <a:noFill/>
              <a:prstDash val="solid"/>
              <a:miter lim="800000"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600">
                  <a:solidFill>
                    <a:srgbClr val="444444"/>
                  </a:solidFill>
                  <a:latin typeface="Times New Roman" panose="02020603050405020304" pitchFamily="18" charset="0"/>
                </a:rPr>
                <a:t>thin outlines</a:t>
              </a:r>
            </a:p>
            <a:p>
              <a:r>
                <a:rPr lang="en-US" altLang="zh-CN" sz="1600">
                  <a:solidFill>
                    <a:srgbClr val="444444"/>
                  </a:solidFill>
                  <a:latin typeface="Times New Roman" panose="02020603050405020304" pitchFamily="18" charset="0"/>
                </a:rPr>
                <a:t>white fill</a:t>
              </a:r>
            </a:p>
            <a:p>
              <a:r>
                <a:rPr lang="en-US" altLang="zh-CN" sz="1600">
                  <a:solidFill>
                    <a:srgbClr val="444444"/>
                  </a:solidFill>
                  <a:latin typeface="Times New Roman" panose="02020603050405020304" pitchFamily="18" charset="0"/>
                </a:rPr>
                <a:t>numbered logic</a:t>
              </a:r>
            </a:p>
            <a:p>
              <a:r>
                <a:rPr lang="en-US" altLang="zh-CN" sz="1600">
                  <a:solidFill>
                    <a:srgbClr val="444444"/>
                  </a:solidFill>
                  <a:latin typeface="Times New Roman" panose="02020603050405020304" pitchFamily="18" charset="0"/>
                </a:rPr>
                <a:t>minimal color</a:t>
              </a:r>
              <a:endParaRPr lang="zh-CN" altLang="en-US" sz="1600">
                <a:solidFill>
                  <a:srgbClr val="444444"/>
                </a:solidFill>
                <a:latin typeface="Times New Roman" panose="02020603050405020304" pitchFamily="18" charset="0"/>
              </a:endParaRPr>
            </a:p>
          </p:txBody>
        </p:sp>
      </p:grpSp>
      <p:grpSp>
        <p:nvGrpSpPr>
          <p:cNvPr id="31" name="组合 30">
            <a:extLst>
              <a:ext uri="{FF2B5EF4-FFF2-40B4-BE49-F238E27FC236}">
                <a16:creationId xmlns:a16="http://schemas.microsoft.com/office/drawing/2014/main" id="{893548EF-28FE-852D-0DE9-D9DBD9BC9B8F}"/>
              </a:ext>
            </a:extLst>
          </p:cNvPr>
          <p:cNvGrpSpPr/>
          <p:nvPr/>
        </p:nvGrpSpPr>
        <p:grpSpPr>
          <a:xfrm>
            <a:off x="1397000" y="1574800"/>
            <a:ext cx="9474200" cy="3810000"/>
            <a:chOff x="1397000" y="1574800"/>
            <a:chExt cx="9474200" cy="3810000"/>
          </a:xfrm>
        </p:grpSpPr>
        <p:sp>
          <p:nvSpPr>
            <p:cNvPr id="5" name="矩形: 圆角 4">
              <a:extLst>
                <a:ext uri="{FF2B5EF4-FFF2-40B4-BE49-F238E27FC236}">
                  <a16:creationId xmlns:a16="http://schemas.microsoft.com/office/drawing/2014/main" id="{A2607B3B-070D-FDBC-7493-9B25DF9CE017}"/>
                </a:ext>
              </a:extLst>
            </p:cNvPr>
            <p:cNvSpPr/>
            <p:nvPr/>
          </p:nvSpPr>
          <p:spPr>
            <a:xfrm>
              <a:off x="4191000" y="1574800"/>
              <a:ext cx="3810000" cy="558800"/>
            </a:xfrm>
            <a:prstGeom prst="roundRect">
              <a:avLst>
                <a:gd name="adj" fmla="val 40909"/>
              </a:avLst>
            </a:prstGeom>
            <a:solidFill>
              <a:srgbClr val="F7F7F7"/>
            </a:solidFill>
            <a:ln w="13970">
              <a:solidFill>
                <a:srgbClr val="1111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b="1">
                  <a:solidFill>
                    <a:srgbClr val="111111"/>
                  </a:solidFill>
                  <a:latin typeface="Times New Roman" panose="02020603050405020304" pitchFamily="18" charset="0"/>
                </a:rPr>
                <a:t>Natural-language request</a:t>
              </a:r>
              <a:endParaRPr lang="zh-CN" altLang="en-US" b="1">
                <a:solidFill>
                  <a:srgbClr val="11111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D65E8897-FCC4-E1F6-AFC3-11D74D4BD336}"/>
                </a:ext>
              </a:extLst>
            </p:cNvPr>
            <p:cNvSpPr/>
            <p:nvPr/>
          </p:nvSpPr>
          <p:spPr>
            <a:xfrm>
              <a:off x="4191000" y="2489200"/>
              <a:ext cx="3810000" cy="558800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1111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700">
                  <a:solidFill>
                    <a:srgbClr val="111111"/>
                  </a:solidFill>
                  <a:latin typeface="Times New Roman" panose="02020603050405020304" pitchFamily="18" charset="0"/>
                </a:rPr>
                <a:t>Parse task intent and drawing constraints</a:t>
              </a:r>
              <a:endParaRPr lang="zh-CN" altLang="en-US" sz="1700">
                <a:solidFill>
                  <a:srgbClr val="11111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7" name="菱形 6">
              <a:extLst>
                <a:ext uri="{FF2B5EF4-FFF2-40B4-BE49-F238E27FC236}">
                  <a16:creationId xmlns:a16="http://schemas.microsoft.com/office/drawing/2014/main" id="{725E45A2-ACAF-0D44-AB62-36C50F067878}"/>
                </a:ext>
              </a:extLst>
            </p:cNvPr>
            <p:cNvSpPr/>
            <p:nvPr/>
          </p:nvSpPr>
          <p:spPr>
            <a:xfrm>
              <a:off x="4572000" y="3378200"/>
              <a:ext cx="3048000" cy="1041400"/>
            </a:xfrm>
            <a:prstGeom prst="diamond">
              <a:avLst/>
            </a:prstGeom>
            <a:solidFill>
              <a:srgbClr val="FFFFFF"/>
            </a:solidFill>
            <a:ln w="1778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rgbClr val="111111"/>
                  </a:solidFill>
                  <a:latin typeface="Times New Roman" panose="02020603050405020304" pitchFamily="18" charset="0"/>
                </a:rPr>
                <a:t>Is target slide</a:t>
              </a:r>
            </a:p>
            <a:p>
              <a:pPr algn="ctr"/>
              <a:r>
                <a:rPr lang="en-US" altLang="zh-CN" sz="1600" b="1">
                  <a:solidFill>
                    <a:srgbClr val="111111"/>
                  </a:solidFill>
                  <a:latin typeface="Times New Roman" panose="02020603050405020304" pitchFamily="18" charset="0"/>
                </a:rPr>
                <a:t>unambiguous?</a:t>
              </a:r>
              <a:endParaRPr lang="zh-CN" altLang="en-US" sz="1600" b="1">
                <a:solidFill>
                  <a:srgbClr val="11111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53B9DDE2-213B-AA38-7377-C0BB0866F0E5}"/>
                </a:ext>
              </a:extLst>
            </p:cNvPr>
            <p:cNvSpPr/>
            <p:nvPr/>
          </p:nvSpPr>
          <p:spPr>
            <a:xfrm>
              <a:off x="8458200" y="3619500"/>
              <a:ext cx="2413000" cy="558800"/>
            </a:xfrm>
            <a:prstGeom prst="rect">
              <a:avLst/>
            </a:prstGeom>
            <a:solidFill>
              <a:srgbClr val="F8F8F8"/>
            </a:solidFill>
            <a:ln w="12700">
              <a:solidFill>
                <a:srgbClr val="1111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111111"/>
                  </a:solidFill>
                  <a:latin typeface="Times New Roman" panose="02020603050405020304" pitchFamily="18" charset="0"/>
                </a:rPr>
                <a:t>Report ambiguity</a:t>
              </a:r>
            </a:p>
            <a:p>
              <a:pPr algn="ctr"/>
              <a:r>
                <a:rPr lang="en-US" altLang="zh-CN" sz="1600">
                  <a:solidFill>
                    <a:srgbClr val="111111"/>
                  </a:solidFill>
                  <a:latin typeface="Times New Roman" panose="02020603050405020304" pitchFamily="18" charset="0"/>
                </a:rPr>
                <a:t>and request target</a:t>
              </a:r>
              <a:endParaRPr lang="zh-CN" altLang="en-US" sz="1600">
                <a:solidFill>
                  <a:srgbClr val="11111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9" name="矩形 8">
              <a:extLst>
                <a:ext uri="{FF2B5EF4-FFF2-40B4-BE49-F238E27FC236}">
                  <a16:creationId xmlns:a16="http://schemas.microsoft.com/office/drawing/2014/main" id="{70C74146-E0CA-2EFA-F5B1-35FA6D8FB27A}"/>
                </a:ext>
              </a:extLst>
            </p:cNvPr>
            <p:cNvSpPr/>
            <p:nvPr/>
          </p:nvSpPr>
          <p:spPr>
            <a:xfrm>
              <a:off x="4191000" y="4826000"/>
              <a:ext cx="3810000" cy="558800"/>
            </a:xfrm>
            <a:prstGeom prst="rect">
              <a:avLst/>
            </a:prstGeom>
            <a:solidFill>
              <a:srgbClr val="EFF6FA"/>
            </a:solidFill>
            <a:ln w="16510">
              <a:solidFill>
                <a:srgbClr val="15608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700" b="1">
                  <a:solidFill>
                    <a:srgbClr val="111111"/>
                  </a:solidFill>
                  <a:latin typeface="Times New Roman" panose="02020603050405020304" pitchFamily="18" charset="0"/>
                </a:rPr>
                <a:t>Select live backend: MCP  →  CLI  →  COM</a:t>
              </a:r>
              <a:endParaRPr lang="zh-CN" altLang="en-US" sz="1700" b="1">
                <a:solidFill>
                  <a:srgbClr val="11111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964FC5B5-313E-861F-996C-08E4F5530AA6}"/>
                </a:ext>
              </a:extLst>
            </p:cNvPr>
            <p:cNvSpPr/>
            <p:nvPr/>
          </p:nvSpPr>
          <p:spPr>
            <a:xfrm>
              <a:off x="1397000" y="4826000"/>
              <a:ext cx="2159000" cy="558800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1111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111111"/>
                  </a:solidFill>
                  <a:latin typeface="Times New Roman" panose="02020603050405020304" pitchFamily="18" charset="0"/>
                </a:rPr>
                <a:t>Create editable</a:t>
              </a:r>
            </a:p>
            <a:p>
              <a:pPr algn="ctr"/>
              <a:r>
                <a:rPr lang="en-US" altLang="zh-CN" sz="1600">
                  <a:solidFill>
                    <a:srgbClr val="111111"/>
                  </a:solidFill>
                  <a:latin typeface="Times New Roman" panose="02020603050405020304" pitchFamily="18" charset="0"/>
                </a:rPr>
                <a:t>PowerPoint objects</a:t>
              </a:r>
              <a:endParaRPr lang="zh-CN" altLang="en-US" sz="1600">
                <a:solidFill>
                  <a:srgbClr val="11111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1" name="矩形 10">
              <a:extLst>
                <a:ext uri="{FF2B5EF4-FFF2-40B4-BE49-F238E27FC236}">
                  <a16:creationId xmlns:a16="http://schemas.microsoft.com/office/drawing/2014/main" id="{B2250BB9-EAEC-1274-2DDB-B0C82AEEFD73}"/>
                </a:ext>
              </a:extLst>
            </p:cNvPr>
            <p:cNvSpPr/>
            <p:nvPr/>
          </p:nvSpPr>
          <p:spPr>
            <a:xfrm>
              <a:off x="1397000" y="3683000"/>
              <a:ext cx="2159000" cy="558800"/>
            </a:xfrm>
            <a:prstGeom prst="rect">
              <a:avLst/>
            </a:prstGeom>
            <a:solidFill>
              <a:srgbClr val="FFFFFF"/>
            </a:solidFill>
            <a:ln w="13970">
              <a:solidFill>
                <a:srgbClr val="1111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>
                  <a:solidFill>
                    <a:srgbClr val="111111"/>
                  </a:solidFill>
                  <a:latin typeface="Times New Roman" panose="02020603050405020304" pitchFamily="18" charset="0"/>
                </a:rPr>
                <a:t>Visual inspection</a:t>
              </a:r>
            </a:p>
            <a:p>
              <a:pPr algn="ctr"/>
              <a:r>
                <a:rPr lang="en-US" altLang="zh-CN" sz="1600">
                  <a:solidFill>
                    <a:srgbClr val="111111"/>
                  </a:solidFill>
                  <a:latin typeface="Times New Roman" panose="02020603050405020304" pitchFamily="18" charset="0"/>
                </a:rPr>
                <a:t>and revision</a:t>
              </a:r>
              <a:endParaRPr lang="zh-CN" altLang="en-US" sz="1600">
                <a:solidFill>
                  <a:srgbClr val="11111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7B89174A-BFBB-8E03-4226-88576F1DDFA7}"/>
                </a:ext>
              </a:extLst>
            </p:cNvPr>
            <p:cNvSpPr/>
            <p:nvPr/>
          </p:nvSpPr>
          <p:spPr>
            <a:xfrm>
              <a:off x="1397000" y="2489200"/>
              <a:ext cx="2159000" cy="558800"/>
            </a:xfrm>
            <a:prstGeom prst="roundRect">
              <a:avLst>
                <a:gd name="adj" fmla="val 40909"/>
              </a:avLst>
            </a:prstGeom>
            <a:solidFill>
              <a:srgbClr val="F7F7F7"/>
            </a:solidFill>
            <a:ln w="13970">
              <a:solidFill>
                <a:srgbClr val="111111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600" b="1">
                  <a:solidFill>
                    <a:srgbClr val="111111"/>
                  </a:solidFill>
                  <a:latin typeface="Times New Roman" panose="02020603050405020304" pitchFamily="18" charset="0"/>
                </a:rPr>
                <a:t>Editable figure</a:t>
              </a:r>
            </a:p>
            <a:p>
              <a:pPr algn="ctr"/>
              <a:r>
                <a:rPr lang="en-US" altLang="zh-CN" sz="1600" b="1">
                  <a:solidFill>
                    <a:srgbClr val="111111"/>
                  </a:solidFill>
                  <a:latin typeface="Times New Roman" panose="02020603050405020304" pitchFamily="18" charset="0"/>
                </a:rPr>
                <a:t>on active slide</a:t>
              </a:r>
              <a:endParaRPr lang="zh-CN" altLang="en-US" sz="1600" b="1">
                <a:solidFill>
                  <a:srgbClr val="11111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22" name="箭头: 下 21">
              <a:extLst>
                <a:ext uri="{FF2B5EF4-FFF2-40B4-BE49-F238E27FC236}">
                  <a16:creationId xmlns:a16="http://schemas.microsoft.com/office/drawing/2014/main" id="{9306A19E-6200-2F51-8093-F2A2021CE9CF}"/>
                </a:ext>
              </a:extLst>
            </p:cNvPr>
            <p:cNvSpPr/>
            <p:nvPr/>
          </p:nvSpPr>
          <p:spPr>
            <a:xfrm>
              <a:off x="5930900" y="2171700"/>
              <a:ext cx="330200" cy="279400"/>
            </a:xfrm>
            <a:prstGeom prst="downArrow">
              <a:avLst/>
            </a:prstGeom>
            <a:solidFill>
              <a:srgbClr val="11111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箭头: 下 22">
              <a:extLst>
                <a:ext uri="{FF2B5EF4-FFF2-40B4-BE49-F238E27FC236}">
                  <a16:creationId xmlns:a16="http://schemas.microsoft.com/office/drawing/2014/main" id="{2727AB21-4DE5-16B3-C5ED-9E4D1D743C1E}"/>
                </a:ext>
              </a:extLst>
            </p:cNvPr>
            <p:cNvSpPr/>
            <p:nvPr/>
          </p:nvSpPr>
          <p:spPr>
            <a:xfrm>
              <a:off x="5930900" y="3086100"/>
              <a:ext cx="330200" cy="254000"/>
            </a:xfrm>
            <a:prstGeom prst="downArrow">
              <a:avLst/>
            </a:prstGeom>
            <a:solidFill>
              <a:srgbClr val="11111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4" name="箭头: 右 23">
              <a:extLst>
                <a:ext uri="{FF2B5EF4-FFF2-40B4-BE49-F238E27FC236}">
                  <a16:creationId xmlns:a16="http://schemas.microsoft.com/office/drawing/2014/main" id="{CE2CFCDA-AE8F-9A7C-7B57-88EFD3413757}"/>
                </a:ext>
              </a:extLst>
            </p:cNvPr>
            <p:cNvSpPr/>
            <p:nvPr/>
          </p:nvSpPr>
          <p:spPr>
            <a:xfrm>
              <a:off x="7670800" y="3810000"/>
              <a:ext cx="736600" cy="228600"/>
            </a:xfrm>
            <a:prstGeom prst="rightArrow">
              <a:avLst/>
            </a:prstGeom>
            <a:solidFill>
              <a:srgbClr val="11111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5" name="箭头: 下 24">
              <a:extLst>
                <a:ext uri="{FF2B5EF4-FFF2-40B4-BE49-F238E27FC236}">
                  <a16:creationId xmlns:a16="http://schemas.microsoft.com/office/drawing/2014/main" id="{E032A3DE-020D-4BB3-0779-ACB857CFC2D9}"/>
                </a:ext>
              </a:extLst>
            </p:cNvPr>
            <p:cNvSpPr/>
            <p:nvPr/>
          </p:nvSpPr>
          <p:spPr>
            <a:xfrm>
              <a:off x="5930900" y="4470400"/>
              <a:ext cx="330200" cy="304800"/>
            </a:xfrm>
            <a:prstGeom prst="downArrow">
              <a:avLst/>
            </a:prstGeom>
            <a:solidFill>
              <a:srgbClr val="15608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箭头: 左 25">
              <a:extLst>
                <a:ext uri="{FF2B5EF4-FFF2-40B4-BE49-F238E27FC236}">
                  <a16:creationId xmlns:a16="http://schemas.microsoft.com/office/drawing/2014/main" id="{367C737B-0A57-4AEE-E88E-F3743456543A}"/>
                </a:ext>
              </a:extLst>
            </p:cNvPr>
            <p:cNvSpPr/>
            <p:nvPr/>
          </p:nvSpPr>
          <p:spPr>
            <a:xfrm>
              <a:off x="3606800" y="4991100"/>
              <a:ext cx="533400" cy="228600"/>
            </a:xfrm>
            <a:prstGeom prst="leftArrow">
              <a:avLst/>
            </a:prstGeom>
            <a:solidFill>
              <a:srgbClr val="11111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7" name="箭头: 上 26">
              <a:extLst>
                <a:ext uri="{FF2B5EF4-FFF2-40B4-BE49-F238E27FC236}">
                  <a16:creationId xmlns:a16="http://schemas.microsoft.com/office/drawing/2014/main" id="{9C8D2A47-78E1-3B28-8AA8-48B8B62BB97C}"/>
                </a:ext>
              </a:extLst>
            </p:cNvPr>
            <p:cNvSpPr/>
            <p:nvPr/>
          </p:nvSpPr>
          <p:spPr>
            <a:xfrm>
              <a:off x="2311400" y="4292600"/>
              <a:ext cx="330200" cy="482600"/>
            </a:xfrm>
            <a:prstGeom prst="upArrow">
              <a:avLst/>
            </a:prstGeom>
            <a:solidFill>
              <a:srgbClr val="11111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8" name="箭头: 上 27">
              <a:extLst>
                <a:ext uri="{FF2B5EF4-FFF2-40B4-BE49-F238E27FC236}">
                  <a16:creationId xmlns:a16="http://schemas.microsoft.com/office/drawing/2014/main" id="{E0AF2A5C-4AB7-AB7B-01FF-F3AD5C6DB422}"/>
                </a:ext>
              </a:extLst>
            </p:cNvPr>
            <p:cNvSpPr/>
            <p:nvPr/>
          </p:nvSpPr>
          <p:spPr>
            <a:xfrm>
              <a:off x="2311400" y="3098800"/>
              <a:ext cx="330200" cy="533400"/>
            </a:xfrm>
            <a:prstGeom prst="upArrow">
              <a:avLst/>
            </a:prstGeom>
            <a:solidFill>
              <a:srgbClr val="111111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9" name="文本框 28">
              <a:extLst>
                <a:ext uri="{FF2B5EF4-FFF2-40B4-BE49-F238E27FC236}">
                  <a16:creationId xmlns:a16="http://schemas.microsoft.com/office/drawing/2014/main" id="{B74EECEB-EC9B-A688-EC13-0EBADE3A135E}"/>
                </a:ext>
              </a:extLst>
            </p:cNvPr>
            <p:cNvSpPr txBox="1"/>
            <p:nvPr/>
          </p:nvSpPr>
          <p:spPr>
            <a:xfrm>
              <a:off x="7785100" y="3479800"/>
              <a:ext cx="457200" cy="338554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pPr algn="ctr"/>
              <a:r>
                <a:rPr lang="en-US" altLang="zh-CN" sz="1600" i="1">
                  <a:solidFill>
                    <a:srgbClr val="111111"/>
                  </a:solidFill>
                  <a:latin typeface="Times New Roman" panose="02020603050405020304" pitchFamily="18" charset="0"/>
                </a:rPr>
                <a:t>No</a:t>
              </a:r>
              <a:endParaRPr lang="zh-CN" altLang="en-US" sz="1600" i="1">
                <a:solidFill>
                  <a:srgbClr val="111111"/>
                </a:solidFill>
                <a:latin typeface="Times New Roman" panose="02020603050405020304" pitchFamily="18" charset="0"/>
              </a:endParaRPr>
            </a:p>
          </p:txBody>
        </p:sp>
        <p:sp>
          <p:nvSpPr>
            <p:cNvPr id="30" name="文本框 29">
              <a:extLst>
                <a:ext uri="{FF2B5EF4-FFF2-40B4-BE49-F238E27FC236}">
                  <a16:creationId xmlns:a16="http://schemas.microsoft.com/office/drawing/2014/main" id="{F220A2B0-C797-A730-A42C-799372911D4D}"/>
                </a:ext>
              </a:extLst>
            </p:cNvPr>
            <p:cNvSpPr txBox="1"/>
            <p:nvPr/>
          </p:nvSpPr>
          <p:spPr>
            <a:xfrm>
              <a:off x="6350000" y="4470400"/>
              <a:ext cx="482600" cy="338554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pPr algn="ctr"/>
              <a:r>
                <a:rPr lang="en-US" altLang="zh-CN" sz="1600" i="1">
                  <a:solidFill>
                    <a:srgbClr val="156082"/>
                  </a:solidFill>
                  <a:latin typeface="Times New Roman" panose="02020603050405020304" pitchFamily="18" charset="0"/>
                </a:rPr>
                <a:t>Yes</a:t>
              </a:r>
              <a:endParaRPr lang="zh-CN" altLang="en-US" sz="1600" i="1">
                <a:solidFill>
                  <a:srgbClr val="156082"/>
                </a:solidFill>
                <a:latin typeface="Times New Roman" panose="02020603050405020304" pitchFamily="18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7648287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文本框 49">
            <a:extLst>
              <a:ext uri="{FF2B5EF4-FFF2-40B4-BE49-F238E27FC236}">
                <a16:creationId xmlns:a16="http://schemas.microsoft.com/office/drawing/2014/main" id="{8440DBDA-9F32-5C47-8766-84ED46AE4271}"/>
              </a:ext>
            </a:extLst>
          </p:cNvPr>
          <p:cNvSpPr txBox="1"/>
          <p:nvPr/>
        </p:nvSpPr>
        <p:spPr>
          <a:xfrm>
            <a:off x="609600" y="381000"/>
            <a:ext cx="7874000" cy="477054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2500" b="1">
                <a:solidFill>
                  <a:srgbClr val="111111"/>
                </a:solidFill>
                <a:latin typeface="Arial" panose="020B0604020202020204" pitchFamily="34" charset="0"/>
              </a:rPr>
              <a:t>Editable live PowerPoint diagram generation</a:t>
            </a:r>
            <a:endParaRPr lang="zh-CN" altLang="en-US" sz="2500" b="1">
              <a:solidFill>
                <a:srgbClr val="111111"/>
              </a:solidFill>
              <a:latin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549D36C0-F479-2343-A003-8D8267542A84}"/>
              </a:ext>
            </a:extLst>
          </p:cNvPr>
          <p:cNvSpPr txBox="1"/>
          <p:nvPr/>
        </p:nvSpPr>
        <p:spPr>
          <a:xfrm>
            <a:off x="609600" y="828188"/>
            <a:ext cx="9144000" cy="307777"/>
          </a:xfrm>
          <a:prstGeom prst="rect">
            <a:avLst/>
          </a:prstGeom>
          <a:noFill/>
        </p:spPr>
        <p:txBody>
          <a:bodyPr vert="horz" rtlCol="0" anchor="ctr">
            <a:spAutoFit/>
          </a:bodyPr>
          <a:lstStyle/>
          <a:p>
            <a:r>
              <a:rPr lang="en-US" altLang="zh-CN" sz="1400">
                <a:solidFill>
                  <a:srgbClr val="555555"/>
                </a:solidFill>
                <a:latin typeface="Arial" panose="020B0604020202020204" pitchFamily="34" charset="0"/>
              </a:rPr>
              <a:t>A Nature-style schematic using labelled, native PowerPoint objects rather than bitmap artwork</a:t>
            </a:r>
            <a:endParaRPr lang="zh-CN" altLang="en-US" sz="1400">
              <a:solidFill>
                <a:srgbClr val="555555"/>
              </a:solidFill>
              <a:latin typeface="Arial" panose="020B0604020202020204" pitchFamily="34" charset="0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6F85046D-E4C6-0E95-206D-787BEEA7ABA8}"/>
              </a:ext>
            </a:extLst>
          </p:cNvPr>
          <p:cNvSpPr/>
          <p:nvPr/>
        </p:nvSpPr>
        <p:spPr>
          <a:xfrm>
            <a:off x="609600" y="1219200"/>
            <a:ext cx="10972800" cy="15240"/>
          </a:xfrm>
          <a:prstGeom prst="rect">
            <a:avLst/>
          </a:prstGeom>
          <a:solidFill>
            <a:srgbClr val="C7CCD1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>
            <a:extLst>
              <a:ext uri="{FF2B5EF4-FFF2-40B4-BE49-F238E27FC236}">
                <a16:creationId xmlns:a16="http://schemas.microsoft.com/office/drawing/2014/main" id="{06F1FAFB-FC5A-4F28-5FF1-C7147463E8B1}"/>
              </a:ext>
            </a:extLst>
          </p:cNvPr>
          <p:cNvSpPr/>
          <p:nvPr/>
        </p:nvSpPr>
        <p:spPr>
          <a:xfrm>
            <a:off x="5765800" y="1524000"/>
            <a:ext cx="10160" cy="2362200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矩形 59">
            <a:extLst>
              <a:ext uri="{FF2B5EF4-FFF2-40B4-BE49-F238E27FC236}">
                <a16:creationId xmlns:a16="http://schemas.microsoft.com/office/drawing/2014/main" id="{B6F0B720-C6F4-6D9B-BB6B-2BA07E175DE9}"/>
              </a:ext>
            </a:extLst>
          </p:cNvPr>
          <p:cNvSpPr/>
          <p:nvPr/>
        </p:nvSpPr>
        <p:spPr>
          <a:xfrm>
            <a:off x="609600" y="4000500"/>
            <a:ext cx="10972800" cy="10160"/>
          </a:xfrm>
          <a:prstGeom prst="rect">
            <a:avLst/>
          </a:prstGeom>
          <a:solidFill>
            <a:srgbClr val="D9D9D9"/>
          </a:solidFill>
          <a:ln w="1905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9050" cap="flat" cmpd="sng" algn="ctr">
                <a:solidFill>
                  <a:schemeClr val="accent1">
                    <a:shade val="15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112" name="nature_panel_a_prompt_layout_objects">
            <a:extLst>
              <a:ext uri="{FF2B5EF4-FFF2-40B4-BE49-F238E27FC236}">
                <a16:creationId xmlns:a16="http://schemas.microsoft.com/office/drawing/2014/main" id="{261C9E27-F8DF-C0E7-54FF-C6F4D174A135}"/>
              </a:ext>
            </a:extLst>
          </p:cNvPr>
          <p:cNvGrpSpPr/>
          <p:nvPr/>
        </p:nvGrpSpPr>
        <p:grpSpPr>
          <a:xfrm>
            <a:off x="812800" y="1600200"/>
            <a:ext cx="4673600" cy="1818620"/>
            <a:chOff x="812800" y="1600200"/>
            <a:chExt cx="4673600" cy="1818620"/>
          </a:xfrm>
        </p:grpSpPr>
        <p:sp>
          <p:nvSpPr>
            <p:cNvPr id="56" name="文本框 55">
              <a:extLst>
                <a:ext uri="{FF2B5EF4-FFF2-40B4-BE49-F238E27FC236}">
                  <a16:creationId xmlns:a16="http://schemas.microsoft.com/office/drawing/2014/main" id="{2059A164-39EC-3DE9-375A-7C5779E342DD}"/>
                </a:ext>
              </a:extLst>
            </p:cNvPr>
            <p:cNvSpPr txBox="1"/>
            <p:nvPr/>
          </p:nvSpPr>
          <p:spPr>
            <a:xfrm>
              <a:off x="812800" y="1674083"/>
              <a:ext cx="304800" cy="400110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2000" b="1">
                  <a:solidFill>
                    <a:srgbClr val="111111"/>
                  </a:solidFill>
                  <a:latin typeface="Arial" panose="020B0604020202020204" pitchFamily="34" charset="0"/>
                </a:rPr>
                <a:t>a</a:t>
              </a:r>
              <a:endParaRPr lang="zh-CN" altLang="en-US" sz="20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1" name="文本框 60">
              <a:extLst>
                <a:ext uri="{FF2B5EF4-FFF2-40B4-BE49-F238E27FC236}">
                  <a16:creationId xmlns:a16="http://schemas.microsoft.com/office/drawing/2014/main" id="{E674705D-4760-5632-55E1-1F95366748BF}"/>
                </a:ext>
              </a:extLst>
            </p:cNvPr>
            <p:cNvSpPr txBox="1"/>
            <p:nvPr/>
          </p:nvSpPr>
          <p:spPr>
            <a:xfrm>
              <a:off x="1117600" y="1600200"/>
              <a:ext cx="4191000" cy="338554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1600" b="1">
                  <a:solidFill>
                    <a:srgbClr val="111111"/>
                  </a:solidFill>
                  <a:latin typeface="Arial" panose="020B0604020202020204" pitchFamily="34" charset="0"/>
                </a:rPr>
                <a:t>Instruction-to-layout model</a:t>
              </a:r>
              <a:endParaRPr lang="zh-CN" altLang="en-US" sz="16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2" name="矩形: 圆角 61">
              <a:extLst>
                <a:ext uri="{FF2B5EF4-FFF2-40B4-BE49-F238E27FC236}">
                  <a16:creationId xmlns:a16="http://schemas.microsoft.com/office/drawing/2014/main" id="{A1A8877A-6CFF-5550-AD11-4F8D6368D561}"/>
                </a:ext>
              </a:extLst>
            </p:cNvPr>
            <p:cNvSpPr/>
            <p:nvPr/>
          </p:nvSpPr>
          <p:spPr>
            <a:xfrm>
              <a:off x="1092200" y="2133600"/>
              <a:ext cx="1092200" cy="533400"/>
            </a:xfrm>
            <a:prstGeom prst="roundRect">
              <a:avLst>
                <a:gd name="adj" fmla="val 14286"/>
              </a:avLst>
            </a:prstGeom>
            <a:solidFill>
              <a:srgbClr val="F3F7FA"/>
            </a:solidFill>
            <a:ln w="9525">
              <a:solidFill>
                <a:srgbClr val="B7C4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2700" tIns="12700" rIns="12700" bIns="12700" rtlCol="0" anchor="ctr">
              <a:noAutofit/>
            </a:bodyPr>
            <a:lstStyle/>
            <a:p>
              <a:pPr algn="ctr"/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Prompt</a:t>
              </a:r>
              <a:endParaRPr lang="zh-CN" altLang="en-US" sz="14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3" name="箭头: 右 62">
              <a:extLst>
                <a:ext uri="{FF2B5EF4-FFF2-40B4-BE49-F238E27FC236}">
                  <a16:creationId xmlns:a16="http://schemas.microsoft.com/office/drawing/2014/main" id="{DA9923A8-9FFF-FF44-B3B1-C70DE5F0D7CD}"/>
                </a:ext>
              </a:extLst>
            </p:cNvPr>
            <p:cNvSpPr/>
            <p:nvPr/>
          </p:nvSpPr>
          <p:spPr>
            <a:xfrm>
              <a:off x="2298700" y="2336800"/>
              <a:ext cx="330200" cy="114300"/>
            </a:xfrm>
            <a:prstGeom prst="rightArrow">
              <a:avLst/>
            </a:prstGeom>
            <a:gradFill flip="none" rotWithShape="1">
              <a:gsLst>
                <a:gs pos="0">
                  <a:srgbClr val="0072B2"/>
                </a:gs>
                <a:gs pos="100000">
                  <a:srgbClr val="009E73"/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4" name="矩形: 圆角 63">
              <a:extLst>
                <a:ext uri="{FF2B5EF4-FFF2-40B4-BE49-F238E27FC236}">
                  <a16:creationId xmlns:a16="http://schemas.microsoft.com/office/drawing/2014/main" id="{C3CA228C-DB0D-8C95-7083-B192C69764D6}"/>
                </a:ext>
              </a:extLst>
            </p:cNvPr>
            <p:cNvSpPr/>
            <p:nvPr/>
          </p:nvSpPr>
          <p:spPr>
            <a:xfrm>
              <a:off x="2743200" y="2133600"/>
              <a:ext cx="1092200" cy="533400"/>
            </a:xfrm>
            <a:prstGeom prst="roundRect">
              <a:avLst>
                <a:gd name="adj" fmla="val 14286"/>
              </a:avLst>
            </a:prstGeom>
            <a:solidFill>
              <a:srgbClr val="F3F7FA"/>
            </a:solidFill>
            <a:ln w="9525">
              <a:solidFill>
                <a:srgbClr val="B7C4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2700" tIns="12700" rIns="12700" bIns="12700" rtlCol="0" anchor="ctr">
              <a:noAutofit/>
            </a:bodyPr>
            <a:lstStyle/>
            <a:p>
              <a:pPr algn="ctr"/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Layout</a:t>
              </a:r>
              <a:endParaRPr lang="zh-CN" altLang="en-US" sz="14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5" name="箭头: 右 64">
              <a:extLst>
                <a:ext uri="{FF2B5EF4-FFF2-40B4-BE49-F238E27FC236}">
                  <a16:creationId xmlns:a16="http://schemas.microsoft.com/office/drawing/2014/main" id="{B4FECA09-A055-5B6C-4443-706BCB23ACB0}"/>
                </a:ext>
              </a:extLst>
            </p:cNvPr>
            <p:cNvSpPr/>
            <p:nvPr/>
          </p:nvSpPr>
          <p:spPr>
            <a:xfrm>
              <a:off x="3949700" y="2336800"/>
              <a:ext cx="330200" cy="114300"/>
            </a:xfrm>
            <a:prstGeom prst="rightArrow">
              <a:avLst/>
            </a:prstGeom>
            <a:gradFill flip="none" rotWithShape="1">
              <a:gsLst>
                <a:gs pos="0">
                  <a:srgbClr val="0072B2"/>
                </a:gs>
                <a:gs pos="100000">
                  <a:srgbClr val="009E73"/>
                </a:gs>
              </a:gsLst>
              <a:lin ang="5400000" scaled="1"/>
              <a:tileRect/>
            </a:gra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6" name="矩形: 圆角 65">
              <a:extLst>
                <a:ext uri="{FF2B5EF4-FFF2-40B4-BE49-F238E27FC236}">
                  <a16:creationId xmlns:a16="http://schemas.microsoft.com/office/drawing/2014/main" id="{1971C516-E5C1-CDD8-85FC-FFDBA54AD259}"/>
                </a:ext>
              </a:extLst>
            </p:cNvPr>
            <p:cNvSpPr/>
            <p:nvPr/>
          </p:nvSpPr>
          <p:spPr>
            <a:xfrm>
              <a:off x="4394200" y="2133600"/>
              <a:ext cx="1092200" cy="533400"/>
            </a:xfrm>
            <a:prstGeom prst="roundRect">
              <a:avLst>
                <a:gd name="adj" fmla="val 14286"/>
              </a:avLst>
            </a:prstGeom>
            <a:solidFill>
              <a:srgbClr val="F3F7FA"/>
            </a:solidFill>
            <a:ln w="9525">
              <a:solidFill>
                <a:srgbClr val="B7C4CC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2700" tIns="12700" rIns="12700" bIns="12700" rtlCol="0" anchor="ctr">
              <a:noAutofit/>
            </a:bodyPr>
            <a:lstStyle/>
            <a:p>
              <a:pPr algn="ctr"/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Objects</a:t>
              </a:r>
              <a:endParaRPr lang="zh-CN" altLang="en-US" sz="14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69" name="文本框 68">
              <a:extLst>
                <a:ext uri="{FF2B5EF4-FFF2-40B4-BE49-F238E27FC236}">
                  <a16:creationId xmlns:a16="http://schemas.microsoft.com/office/drawing/2014/main" id="{6973C0B2-04EA-253E-BB65-69A72D276887}"/>
                </a:ext>
              </a:extLst>
            </p:cNvPr>
            <p:cNvSpPr txBox="1"/>
            <p:nvPr/>
          </p:nvSpPr>
          <p:spPr>
            <a:xfrm>
              <a:off x="1117600" y="2895600"/>
              <a:ext cx="4191000" cy="523220"/>
            </a:xfrm>
            <a:prstGeom prst="rect">
              <a:avLst/>
            </a:prstGeom>
            <a:noFill/>
          </p:spPr>
          <p:txBody>
            <a:bodyPr vert="horz" rtlCol="0" anchor="t">
              <a:spAutoFit/>
            </a:bodyPr>
            <a:lstStyle/>
            <a:p>
              <a:r>
                <a:rPr lang="en-US" altLang="zh-CN" sz="1400">
                  <a:solidFill>
                    <a:srgbClr val="4D4D4D"/>
                  </a:solidFill>
                  <a:latin typeface="Arial" panose="020B0604020202020204" pitchFamily="34" charset="0"/>
                </a:rPr>
                <a:t>Instructions are parsed into spatial constraints and compiled into editable PowerPoint objects.</a:t>
              </a:r>
              <a:endParaRPr lang="zh-CN" altLang="en-US" sz="1400">
                <a:solidFill>
                  <a:srgbClr val="4D4D4D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3" name="nature_panel_b_backend_priority">
            <a:extLst>
              <a:ext uri="{FF2B5EF4-FFF2-40B4-BE49-F238E27FC236}">
                <a16:creationId xmlns:a16="http://schemas.microsoft.com/office/drawing/2014/main" id="{84A3C609-D48A-7BFB-549E-56194B34D43C}"/>
              </a:ext>
            </a:extLst>
          </p:cNvPr>
          <p:cNvGrpSpPr/>
          <p:nvPr/>
        </p:nvGrpSpPr>
        <p:grpSpPr>
          <a:xfrm>
            <a:off x="6146800" y="1600200"/>
            <a:ext cx="5207000" cy="2387600"/>
            <a:chOff x="6146800" y="1600200"/>
            <a:chExt cx="5207000" cy="2387600"/>
          </a:xfrm>
        </p:grpSpPr>
        <p:sp>
          <p:nvSpPr>
            <p:cNvPr id="57" name="文本框 56">
              <a:extLst>
                <a:ext uri="{FF2B5EF4-FFF2-40B4-BE49-F238E27FC236}">
                  <a16:creationId xmlns:a16="http://schemas.microsoft.com/office/drawing/2014/main" id="{F10DEF2E-72A5-F099-53E7-CCEA86B12046}"/>
                </a:ext>
              </a:extLst>
            </p:cNvPr>
            <p:cNvSpPr txBox="1"/>
            <p:nvPr/>
          </p:nvSpPr>
          <p:spPr>
            <a:xfrm>
              <a:off x="6146800" y="1674083"/>
              <a:ext cx="304800" cy="400110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2000" b="1">
                  <a:solidFill>
                    <a:srgbClr val="111111"/>
                  </a:solidFill>
                  <a:latin typeface="Arial" panose="020B0604020202020204" pitchFamily="34" charset="0"/>
                </a:rPr>
                <a:t>b</a:t>
              </a:r>
              <a:endParaRPr lang="zh-CN" altLang="en-US" sz="20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0" name="文本框 69">
              <a:extLst>
                <a:ext uri="{FF2B5EF4-FFF2-40B4-BE49-F238E27FC236}">
                  <a16:creationId xmlns:a16="http://schemas.microsoft.com/office/drawing/2014/main" id="{C0104E59-5035-5D30-8DDF-A5ACBA008EEB}"/>
                </a:ext>
              </a:extLst>
            </p:cNvPr>
            <p:cNvSpPr txBox="1"/>
            <p:nvPr/>
          </p:nvSpPr>
          <p:spPr>
            <a:xfrm>
              <a:off x="6451600" y="1600200"/>
              <a:ext cx="4572000" cy="338554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1600" b="1">
                  <a:solidFill>
                    <a:srgbClr val="111111"/>
                  </a:solidFill>
                  <a:latin typeface="Arial" panose="020B0604020202020204" pitchFamily="34" charset="0"/>
                </a:rPr>
                <a:t>Backend prioritisation</a:t>
              </a:r>
              <a:endParaRPr lang="zh-CN" altLang="en-US" sz="16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1" name="矩形: 圆角 70">
              <a:extLst>
                <a:ext uri="{FF2B5EF4-FFF2-40B4-BE49-F238E27FC236}">
                  <a16:creationId xmlns:a16="http://schemas.microsoft.com/office/drawing/2014/main" id="{240FDB64-2B86-D675-D153-57AA97A8D199}"/>
                </a:ext>
              </a:extLst>
            </p:cNvPr>
            <p:cNvSpPr/>
            <p:nvPr/>
          </p:nvSpPr>
          <p:spPr>
            <a:xfrm>
              <a:off x="6477000" y="2057400"/>
              <a:ext cx="1600200" cy="457200"/>
            </a:xfrm>
            <a:prstGeom prst="roundRect">
              <a:avLst>
                <a:gd name="adj" fmla="val 16667"/>
              </a:avLst>
            </a:prstGeom>
            <a:solidFill>
              <a:srgbClr val="EAF3F8"/>
            </a:solidFill>
            <a:ln w="15240">
              <a:solidFill>
                <a:srgbClr val="0072B2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ppt-mcp</a:t>
              </a:r>
            </a:p>
            <a:p>
              <a:pPr algn="ctr"/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live target</a:t>
              </a:r>
              <a:endParaRPr lang="zh-CN" altLang="en-US" sz="14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2" name="箭头: 下 71">
              <a:extLst>
                <a:ext uri="{FF2B5EF4-FFF2-40B4-BE49-F238E27FC236}">
                  <a16:creationId xmlns:a16="http://schemas.microsoft.com/office/drawing/2014/main" id="{9B40A97B-641C-9C7D-1512-87C9FCC6C7EE}"/>
                </a:ext>
              </a:extLst>
            </p:cNvPr>
            <p:cNvSpPr/>
            <p:nvPr/>
          </p:nvSpPr>
          <p:spPr>
            <a:xfrm>
              <a:off x="7213600" y="2565400"/>
              <a:ext cx="127000" cy="215900"/>
            </a:xfrm>
            <a:prstGeom prst="downArrow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: 圆角 72">
              <a:extLst>
                <a:ext uri="{FF2B5EF4-FFF2-40B4-BE49-F238E27FC236}">
                  <a16:creationId xmlns:a16="http://schemas.microsoft.com/office/drawing/2014/main" id="{9FB86770-7F8C-8817-83D8-B24D3B4FFC61}"/>
                </a:ext>
              </a:extLst>
            </p:cNvPr>
            <p:cNvSpPr/>
            <p:nvPr/>
          </p:nvSpPr>
          <p:spPr>
            <a:xfrm>
              <a:off x="6477000" y="2794000"/>
              <a:ext cx="1600200" cy="457200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10160">
              <a:solidFill>
                <a:srgbClr val="BDBD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pptcli</a:t>
              </a:r>
            </a:p>
            <a:p>
              <a:pPr algn="ctr"/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session path</a:t>
              </a:r>
              <a:endParaRPr lang="zh-CN" altLang="en-US" sz="14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4" name="箭头: 下 73">
              <a:extLst>
                <a:ext uri="{FF2B5EF4-FFF2-40B4-BE49-F238E27FC236}">
                  <a16:creationId xmlns:a16="http://schemas.microsoft.com/office/drawing/2014/main" id="{10D6040B-9683-73A1-0A1D-4FB5242EA859}"/>
                </a:ext>
              </a:extLst>
            </p:cNvPr>
            <p:cNvSpPr/>
            <p:nvPr/>
          </p:nvSpPr>
          <p:spPr>
            <a:xfrm>
              <a:off x="7213600" y="3302000"/>
              <a:ext cx="127000" cy="215900"/>
            </a:xfrm>
            <a:prstGeom prst="downArrow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5" name="矩形: 圆角 74">
              <a:extLst>
                <a:ext uri="{FF2B5EF4-FFF2-40B4-BE49-F238E27FC236}">
                  <a16:creationId xmlns:a16="http://schemas.microsoft.com/office/drawing/2014/main" id="{34B70B17-71C7-1C06-A606-6BCE3D318A6C}"/>
                </a:ext>
              </a:extLst>
            </p:cNvPr>
            <p:cNvSpPr/>
            <p:nvPr/>
          </p:nvSpPr>
          <p:spPr>
            <a:xfrm>
              <a:off x="6477000" y="3530600"/>
              <a:ext cx="1600200" cy="457200"/>
            </a:xfrm>
            <a:prstGeom prst="roundRect">
              <a:avLst>
                <a:gd name="adj" fmla="val 16667"/>
              </a:avLst>
            </a:prstGeom>
            <a:solidFill>
              <a:srgbClr val="F7F7F7"/>
            </a:solidFill>
            <a:ln w="10160">
              <a:solidFill>
                <a:srgbClr val="BDBD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COM helper</a:t>
              </a:r>
            </a:p>
            <a:p>
              <a:pPr algn="ctr"/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fallback</a:t>
              </a:r>
              <a:endParaRPr lang="zh-CN" altLang="en-US" sz="14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6" name="椭圆 75">
              <a:extLst>
                <a:ext uri="{FF2B5EF4-FFF2-40B4-BE49-F238E27FC236}">
                  <a16:creationId xmlns:a16="http://schemas.microsoft.com/office/drawing/2014/main" id="{E8942BC9-0C27-9DFB-CE93-9601672923CF}"/>
                </a:ext>
              </a:extLst>
            </p:cNvPr>
            <p:cNvSpPr/>
            <p:nvPr/>
          </p:nvSpPr>
          <p:spPr>
            <a:xfrm>
              <a:off x="8458200" y="2133600"/>
              <a:ext cx="101600" cy="101600"/>
            </a:xfrm>
            <a:prstGeom prst="ellipse">
              <a:avLst/>
            </a:prstGeom>
            <a:solidFill>
              <a:srgbClr val="0072B2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7" name="文本框 76">
              <a:extLst>
                <a:ext uri="{FF2B5EF4-FFF2-40B4-BE49-F238E27FC236}">
                  <a16:creationId xmlns:a16="http://schemas.microsoft.com/office/drawing/2014/main" id="{224F330A-8A95-D1AE-3373-B27AD9468895}"/>
                </a:ext>
              </a:extLst>
            </p:cNvPr>
            <p:cNvSpPr txBox="1"/>
            <p:nvPr/>
          </p:nvSpPr>
          <p:spPr>
            <a:xfrm>
              <a:off x="8686800" y="2032000"/>
              <a:ext cx="2667000" cy="523220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1400">
                  <a:solidFill>
                    <a:srgbClr val="333333"/>
                  </a:solidFill>
                  <a:latin typeface="Arial" panose="020B0604020202020204" pitchFamily="34" charset="0"/>
                </a:rPr>
                <a:t>Locks the active deck before drawing</a:t>
              </a:r>
              <a:endParaRPr lang="zh-CN" altLang="en-US" sz="140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78" name="椭圆 77">
              <a:extLst>
                <a:ext uri="{FF2B5EF4-FFF2-40B4-BE49-F238E27FC236}">
                  <a16:creationId xmlns:a16="http://schemas.microsoft.com/office/drawing/2014/main" id="{5FE30E56-0523-6034-7FEC-7D0A6B9157BC}"/>
                </a:ext>
              </a:extLst>
            </p:cNvPr>
            <p:cNvSpPr/>
            <p:nvPr/>
          </p:nvSpPr>
          <p:spPr>
            <a:xfrm>
              <a:off x="8458200" y="2768600"/>
              <a:ext cx="101600" cy="101600"/>
            </a:xfrm>
            <a:prstGeom prst="ellipse">
              <a:avLst/>
            </a:prstGeom>
            <a:solidFill>
              <a:srgbClr val="009E73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9" name="文本框 78">
              <a:extLst>
                <a:ext uri="{FF2B5EF4-FFF2-40B4-BE49-F238E27FC236}">
                  <a16:creationId xmlns:a16="http://schemas.microsoft.com/office/drawing/2014/main" id="{BF0EA7F1-A2B4-127A-24F0-BEBC52247121}"/>
                </a:ext>
              </a:extLst>
            </p:cNvPr>
            <p:cNvSpPr txBox="1"/>
            <p:nvPr/>
          </p:nvSpPr>
          <p:spPr>
            <a:xfrm>
              <a:off x="8686800" y="2667000"/>
              <a:ext cx="2667000" cy="523220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1400">
                  <a:solidFill>
                    <a:srgbClr val="333333"/>
                  </a:solidFill>
                  <a:latin typeface="Arial" panose="020B0604020202020204" pitchFamily="34" charset="0"/>
                </a:rPr>
                <a:t>Creates selectable PowerPoint objects</a:t>
              </a:r>
              <a:endParaRPr lang="zh-CN" altLang="en-US" sz="140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0" name="椭圆 79">
              <a:extLst>
                <a:ext uri="{FF2B5EF4-FFF2-40B4-BE49-F238E27FC236}">
                  <a16:creationId xmlns:a16="http://schemas.microsoft.com/office/drawing/2014/main" id="{62D4AFD4-A067-6E4F-7025-06C287E79641}"/>
                </a:ext>
              </a:extLst>
            </p:cNvPr>
            <p:cNvSpPr/>
            <p:nvPr/>
          </p:nvSpPr>
          <p:spPr>
            <a:xfrm>
              <a:off x="8458200" y="3403600"/>
              <a:ext cx="101600" cy="101600"/>
            </a:xfrm>
            <a:prstGeom prst="ellipse">
              <a:avLst/>
            </a:prstGeom>
            <a:solidFill>
              <a:srgbClr val="D55E00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1" name="文本框 80">
              <a:extLst>
                <a:ext uri="{FF2B5EF4-FFF2-40B4-BE49-F238E27FC236}">
                  <a16:creationId xmlns:a16="http://schemas.microsoft.com/office/drawing/2014/main" id="{DE2CE5F6-B4BB-BDEC-7CC7-FEC9593054EB}"/>
                </a:ext>
              </a:extLst>
            </p:cNvPr>
            <p:cNvSpPr txBox="1"/>
            <p:nvPr/>
          </p:nvSpPr>
          <p:spPr>
            <a:xfrm>
              <a:off x="8686800" y="3302000"/>
              <a:ext cx="2667000" cy="523220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1400">
                  <a:solidFill>
                    <a:srgbClr val="333333"/>
                  </a:solidFill>
                  <a:latin typeface="Arial" panose="020B0604020202020204" pitchFamily="34" charset="0"/>
                </a:rPr>
                <a:t>Keeps saving under user control</a:t>
              </a:r>
              <a:endParaRPr lang="zh-CN" altLang="en-US" sz="140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</p:grpSp>
      <p:grpSp>
        <p:nvGrpSpPr>
          <p:cNvPr id="114" name="nature_panel_c_editable_outputs">
            <a:extLst>
              <a:ext uri="{FF2B5EF4-FFF2-40B4-BE49-F238E27FC236}">
                <a16:creationId xmlns:a16="http://schemas.microsoft.com/office/drawing/2014/main" id="{015A05FB-7E2A-764B-AC60-7B18506F27FC}"/>
              </a:ext>
            </a:extLst>
          </p:cNvPr>
          <p:cNvGrpSpPr/>
          <p:nvPr/>
        </p:nvGrpSpPr>
        <p:grpSpPr>
          <a:xfrm>
            <a:off x="812800" y="4216400"/>
            <a:ext cx="10210800" cy="2434054"/>
            <a:chOff x="812800" y="4216400"/>
            <a:chExt cx="10210800" cy="2434054"/>
          </a:xfrm>
        </p:grpSpPr>
        <p:sp>
          <p:nvSpPr>
            <p:cNvPr id="58" name="文本框 57">
              <a:extLst>
                <a:ext uri="{FF2B5EF4-FFF2-40B4-BE49-F238E27FC236}">
                  <a16:creationId xmlns:a16="http://schemas.microsoft.com/office/drawing/2014/main" id="{B17AF436-8DED-E425-5169-6D274907C986}"/>
                </a:ext>
              </a:extLst>
            </p:cNvPr>
            <p:cNvSpPr txBox="1"/>
            <p:nvPr/>
          </p:nvSpPr>
          <p:spPr>
            <a:xfrm>
              <a:off x="812800" y="4290283"/>
              <a:ext cx="304800" cy="400110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2000" b="1">
                  <a:solidFill>
                    <a:srgbClr val="111111"/>
                  </a:solidFill>
                  <a:latin typeface="Arial" panose="020B0604020202020204" pitchFamily="34" charset="0"/>
                </a:rPr>
                <a:t>c</a:t>
              </a:r>
              <a:endParaRPr lang="zh-CN" altLang="en-US" sz="20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2" name="文本框 81">
              <a:extLst>
                <a:ext uri="{FF2B5EF4-FFF2-40B4-BE49-F238E27FC236}">
                  <a16:creationId xmlns:a16="http://schemas.microsoft.com/office/drawing/2014/main" id="{3CCF1BDD-82D0-309F-898D-9FC106969F3F}"/>
                </a:ext>
              </a:extLst>
            </p:cNvPr>
            <p:cNvSpPr txBox="1"/>
            <p:nvPr/>
          </p:nvSpPr>
          <p:spPr>
            <a:xfrm>
              <a:off x="1117600" y="4216400"/>
              <a:ext cx="4572000" cy="338554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1600" b="1">
                  <a:solidFill>
                    <a:srgbClr val="111111"/>
                  </a:solidFill>
                  <a:latin typeface="Arial" panose="020B0604020202020204" pitchFamily="34" charset="0"/>
                </a:rPr>
                <a:t>Editable output classes</a:t>
              </a:r>
              <a:endParaRPr lang="zh-CN" altLang="en-US" sz="16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3" name="文本框 82">
              <a:extLst>
                <a:ext uri="{FF2B5EF4-FFF2-40B4-BE49-F238E27FC236}">
                  <a16:creationId xmlns:a16="http://schemas.microsoft.com/office/drawing/2014/main" id="{E754632F-5E42-95DD-1FDF-515E0B379271}"/>
                </a:ext>
              </a:extLst>
            </p:cNvPr>
            <p:cNvSpPr txBox="1"/>
            <p:nvPr/>
          </p:nvSpPr>
          <p:spPr>
            <a:xfrm>
              <a:off x="1168400" y="4673600"/>
              <a:ext cx="2794000" cy="307777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Method pipeline</a:t>
              </a:r>
              <a:endParaRPr lang="zh-CN" altLang="en-US" sz="14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4" name="矩形 83">
              <a:extLst>
                <a:ext uri="{FF2B5EF4-FFF2-40B4-BE49-F238E27FC236}">
                  <a16:creationId xmlns:a16="http://schemas.microsoft.com/office/drawing/2014/main" id="{AE3A832E-26B3-586D-DBCB-1E5211E746B2}"/>
                </a:ext>
              </a:extLst>
            </p:cNvPr>
            <p:cNvSpPr/>
            <p:nvPr/>
          </p:nvSpPr>
          <p:spPr>
            <a:xfrm>
              <a:off x="1168400" y="4965700"/>
              <a:ext cx="2794000" cy="8890"/>
            </a:xfrm>
            <a:prstGeom prst="rect">
              <a:avLst/>
            </a:prstGeom>
            <a:solidFill>
              <a:srgbClr val="CCCCC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5" name="矩形: 圆角 84">
              <a:extLst>
                <a:ext uri="{FF2B5EF4-FFF2-40B4-BE49-F238E27FC236}">
                  <a16:creationId xmlns:a16="http://schemas.microsoft.com/office/drawing/2014/main" id="{0F2476F6-F0AF-2FC9-0CD0-6391091275E1}"/>
                </a:ext>
              </a:extLst>
            </p:cNvPr>
            <p:cNvSpPr/>
            <p:nvPr/>
          </p:nvSpPr>
          <p:spPr>
            <a:xfrm>
              <a:off x="1168400" y="5207000"/>
              <a:ext cx="685800" cy="381000"/>
            </a:xfrm>
            <a:prstGeom prst="roundRect">
              <a:avLst>
                <a:gd name="adj" fmla="val 16667"/>
              </a:avLst>
            </a:prstGeom>
            <a:solidFill>
              <a:srgbClr val="EAF3F8"/>
            </a:solidFill>
            <a:ln w="9525">
              <a:solidFill>
                <a:srgbClr val="AFC3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>
                  <a:solidFill>
                    <a:srgbClr val="111111"/>
                  </a:solidFill>
                  <a:latin typeface="Arial" panose="020B0604020202020204" pitchFamily="34" charset="0"/>
                </a:rPr>
                <a:t>Data</a:t>
              </a:r>
              <a:endParaRPr lang="zh-CN" altLang="en-US" sz="13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6" name="箭头: 右 85">
              <a:extLst>
                <a:ext uri="{FF2B5EF4-FFF2-40B4-BE49-F238E27FC236}">
                  <a16:creationId xmlns:a16="http://schemas.microsoft.com/office/drawing/2014/main" id="{056D6FF5-8DE6-EC24-482A-FA4CA107E479}"/>
                </a:ext>
              </a:extLst>
            </p:cNvPr>
            <p:cNvSpPr/>
            <p:nvPr/>
          </p:nvSpPr>
          <p:spPr>
            <a:xfrm>
              <a:off x="1917700" y="5346700"/>
              <a:ext cx="254000" cy="88900"/>
            </a:xfrm>
            <a:prstGeom prst="rightArrow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7" name="矩形: 圆角 86">
              <a:extLst>
                <a:ext uri="{FF2B5EF4-FFF2-40B4-BE49-F238E27FC236}">
                  <a16:creationId xmlns:a16="http://schemas.microsoft.com/office/drawing/2014/main" id="{742AC6EC-40C2-9F08-C84D-6025AA3D6DF3}"/>
                </a:ext>
              </a:extLst>
            </p:cNvPr>
            <p:cNvSpPr/>
            <p:nvPr/>
          </p:nvSpPr>
          <p:spPr>
            <a:xfrm>
              <a:off x="2235200" y="5207000"/>
              <a:ext cx="736600" cy="381000"/>
            </a:xfrm>
            <a:prstGeom prst="roundRect">
              <a:avLst>
                <a:gd name="adj" fmla="val 16667"/>
              </a:avLst>
            </a:prstGeom>
            <a:solidFill>
              <a:srgbClr val="EFF7F2"/>
            </a:solidFill>
            <a:ln w="9525">
              <a:solidFill>
                <a:srgbClr val="AAC8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>
                  <a:solidFill>
                    <a:srgbClr val="111111"/>
                  </a:solidFill>
                  <a:latin typeface="Arial" panose="020B0604020202020204" pitchFamily="34" charset="0"/>
                </a:rPr>
                <a:t>Model</a:t>
              </a:r>
              <a:endParaRPr lang="zh-CN" altLang="en-US" sz="13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88" name="箭头: 右 87">
              <a:extLst>
                <a:ext uri="{FF2B5EF4-FFF2-40B4-BE49-F238E27FC236}">
                  <a16:creationId xmlns:a16="http://schemas.microsoft.com/office/drawing/2014/main" id="{24A7B09A-0117-A4CB-39CB-FD837C53F3A6}"/>
                </a:ext>
              </a:extLst>
            </p:cNvPr>
            <p:cNvSpPr/>
            <p:nvPr/>
          </p:nvSpPr>
          <p:spPr>
            <a:xfrm>
              <a:off x="3035300" y="5346700"/>
              <a:ext cx="254000" cy="88900"/>
            </a:xfrm>
            <a:prstGeom prst="rightArrow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9" name="矩形: 圆角 88">
              <a:extLst>
                <a:ext uri="{FF2B5EF4-FFF2-40B4-BE49-F238E27FC236}">
                  <a16:creationId xmlns:a16="http://schemas.microsoft.com/office/drawing/2014/main" id="{4AE32F69-3DFA-A653-ED5E-F5D691693E3A}"/>
                </a:ext>
              </a:extLst>
            </p:cNvPr>
            <p:cNvSpPr/>
            <p:nvPr/>
          </p:nvSpPr>
          <p:spPr>
            <a:xfrm>
              <a:off x="3352800" y="5207000"/>
              <a:ext cx="736600" cy="381000"/>
            </a:xfrm>
            <a:prstGeom prst="roundRect">
              <a:avLst>
                <a:gd name="adj" fmla="val 16667"/>
              </a:avLst>
            </a:prstGeom>
            <a:solidFill>
              <a:srgbClr val="FFF4EA"/>
            </a:solidFill>
            <a:ln w="9525">
              <a:solidFill>
                <a:srgbClr val="D9B18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>
                  <a:solidFill>
                    <a:srgbClr val="111111"/>
                  </a:solidFill>
                  <a:latin typeface="Arial" panose="020B0604020202020204" pitchFamily="34" charset="0"/>
                </a:rPr>
                <a:t>Result</a:t>
              </a:r>
              <a:endParaRPr lang="zh-CN" altLang="en-US" sz="13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0" name="文本框 89">
              <a:extLst>
                <a:ext uri="{FF2B5EF4-FFF2-40B4-BE49-F238E27FC236}">
                  <a16:creationId xmlns:a16="http://schemas.microsoft.com/office/drawing/2014/main" id="{225BCA8C-C148-9235-B7C9-4EE3EC82B55B}"/>
                </a:ext>
              </a:extLst>
            </p:cNvPr>
            <p:cNvSpPr txBox="1"/>
            <p:nvPr/>
          </p:nvSpPr>
          <p:spPr>
            <a:xfrm>
              <a:off x="4699000" y="4673600"/>
              <a:ext cx="2794000" cy="307777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Experiment flow</a:t>
              </a:r>
              <a:endParaRPr lang="zh-CN" altLang="en-US" sz="14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1" name="矩形 90">
              <a:extLst>
                <a:ext uri="{FF2B5EF4-FFF2-40B4-BE49-F238E27FC236}">
                  <a16:creationId xmlns:a16="http://schemas.microsoft.com/office/drawing/2014/main" id="{C842F387-8199-C9CC-2D92-D28499E126D8}"/>
                </a:ext>
              </a:extLst>
            </p:cNvPr>
            <p:cNvSpPr/>
            <p:nvPr/>
          </p:nvSpPr>
          <p:spPr>
            <a:xfrm>
              <a:off x="4699000" y="4965700"/>
              <a:ext cx="2794000" cy="8890"/>
            </a:xfrm>
            <a:prstGeom prst="rect">
              <a:avLst/>
            </a:prstGeom>
            <a:solidFill>
              <a:srgbClr val="CCCCC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3" name="箭头: 右 92">
              <a:extLst>
                <a:ext uri="{FF2B5EF4-FFF2-40B4-BE49-F238E27FC236}">
                  <a16:creationId xmlns:a16="http://schemas.microsoft.com/office/drawing/2014/main" id="{AEF21D9E-D932-C242-2D1A-0B1FC0177F58}"/>
                </a:ext>
              </a:extLst>
            </p:cNvPr>
            <p:cNvSpPr/>
            <p:nvPr/>
          </p:nvSpPr>
          <p:spPr>
            <a:xfrm>
              <a:off x="5588000" y="5346700"/>
              <a:ext cx="228600" cy="88900"/>
            </a:xfrm>
            <a:prstGeom prst="rightArrow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5" name="箭头: 右 94">
              <a:extLst>
                <a:ext uri="{FF2B5EF4-FFF2-40B4-BE49-F238E27FC236}">
                  <a16:creationId xmlns:a16="http://schemas.microsoft.com/office/drawing/2014/main" id="{0644CE0F-352E-7457-4FB9-BD3AA9B88DB9}"/>
                </a:ext>
              </a:extLst>
            </p:cNvPr>
            <p:cNvSpPr/>
            <p:nvPr/>
          </p:nvSpPr>
          <p:spPr>
            <a:xfrm>
              <a:off x="6654800" y="5346700"/>
              <a:ext cx="228600" cy="88900"/>
            </a:xfrm>
            <a:prstGeom prst="rightArrow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: 圆角 95">
              <a:extLst>
                <a:ext uri="{FF2B5EF4-FFF2-40B4-BE49-F238E27FC236}">
                  <a16:creationId xmlns:a16="http://schemas.microsoft.com/office/drawing/2014/main" id="{369B2B25-ED8E-B592-ABF8-CADAF877C4CD}"/>
                </a:ext>
              </a:extLst>
            </p:cNvPr>
            <p:cNvSpPr/>
            <p:nvPr/>
          </p:nvSpPr>
          <p:spPr>
            <a:xfrm>
              <a:off x="6959600" y="5207000"/>
              <a:ext cx="812800" cy="381000"/>
            </a:xfrm>
            <a:prstGeom prst="roundRect">
              <a:avLst>
                <a:gd name="adj" fmla="val 16667"/>
              </a:avLst>
            </a:prstGeom>
            <a:solidFill>
              <a:srgbClr val="FFF4EA"/>
            </a:solidFill>
            <a:ln w="9525">
              <a:solidFill>
                <a:srgbClr val="D9B18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2700" tIns="12700" rIns="12700" bIns="12700" rtlCol="0" anchor="ctr">
              <a:noAutofit/>
            </a:bodyPr>
            <a:lstStyle/>
            <a:p>
              <a:pPr algn="ctr"/>
              <a:r>
                <a:rPr lang="en-US" altLang="zh-CN" sz="1300" b="1">
                  <a:solidFill>
                    <a:srgbClr val="111111"/>
                  </a:solidFill>
                  <a:latin typeface="Arial" panose="020B0604020202020204" pitchFamily="34" charset="0"/>
                </a:rPr>
                <a:t>Output</a:t>
              </a:r>
              <a:endParaRPr lang="zh-CN" altLang="en-US" sz="13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7" name="文本框 96">
              <a:extLst>
                <a:ext uri="{FF2B5EF4-FFF2-40B4-BE49-F238E27FC236}">
                  <a16:creationId xmlns:a16="http://schemas.microsoft.com/office/drawing/2014/main" id="{FD3CA087-EE0C-ABB5-C8AB-851B49C7C46B}"/>
                </a:ext>
              </a:extLst>
            </p:cNvPr>
            <p:cNvSpPr txBox="1"/>
            <p:nvPr/>
          </p:nvSpPr>
          <p:spPr>
            <a:xfrm>
              <a:off x="8229600" y="4673600"/>
              <a:ext cx="2794000" cy="307777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1400" b="1">
                  <a:solidFill>
                    <a:srgbClr val="111111"/>
                  </a:solidFill>
                  <a:latin typeface="Arial" panose="020B0604020202020204" pitchFamily="34" charset="0"/>
                </a:rPr>
                <a:t>Organization chart</a:t>
              </a:r>
              <a:endParaRPr lang="zh-CN" altLang="en-US" sz="14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98" name="矩形 97">
              <a:extLst>
                <a:ext uri="{FF2B5EF4-FFF2-40B4-BE49-F238E27FC236}">
                  <a16:creationId xmlns:a16="http://schemas.microsoft.com/office/drawing/2014/main" id="{19752FD3-4EFB-9403-3451-F4407B5D1B14}"/>
                </a:ext>
              </a:extLst>
            </p:cNvPr>
            <p:cNvSpPr/>
            <p:nvPr/>
          </p:nvSpPr>
          <p:spPr>
            <a:xfrm>
              <a:off x="8229600" y="4965700"/>
              <a:ext cx="2794000" cy="8890"/>
            </a:xfrm>
            <a:prstGeom prst="rect">
              <a:avLst/>
            </a:prstGeom>
            <a:solidFill>
              <a:srgbClr val="CCCCCC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9" name="矩形: 圆角 98">
              <a:extLst>
                <a:ext uri="{FF2B5EF4-FFF2-40B4-BE49-F238E27FC236}">
                  <a16:creationId xmlns:a16="http://schemas.microsoft.com/office/drawing/2014/main" id="{14675357-C15E-5A41-0CA9-FACC48DF6BE9}"/>
                </a:ext>
              </a:extLst>
            </p:cNvPr>
            <p:cNvSpPr/>
            <p:nvPr/>
          </p:nvSpPr>
          <p:spPr>
            <a:xfrm>
              <a:off x="9232900" y="5130800"/>
              <a:ext cx="787400" cy="355600"/>
            </a:xfrm>
            <a:prstGeom prst="roundRect">
              <a:avLst>
                <a:gd name="adj" fmla="val 17857"/>
              </a:avLst>
            </a:prstGeom>
            <a:solidFill>
              <a:srgbClr val="EAF3F8"/>
            </a:solidFill>
            <a:ln w="9525">
              <a:solidFill>
                <a:srgbClr val="AFC3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>
                  <a:solidFill>
                    <a:srgbClr val="111111"/>
                  </a:solidFill>
                  <a:latin typeface="Arial" panose="020B0604020202020204" pitchFamily="34" charset="0"/>
                </a:rPr>
                <a:t>Core</a:t>
              </a:r>
              <a:endParaRPr lang="zh-CN" altLang="en-US" sz="13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0" name="箭头: 下 99">
              <a:extLst>
                <a:ext uri="{FF2B5EF4-FFF2-40B4-BE49-F238E27FC236}">
                  <a16:creationId xmlns:a16="http://schemas.microsoft.com/office/drawing/2014/main" id="{BCF16D42-EEE5-0988-E52E-611D288FBE17}"/>
                </a:ext>
              </a:extLst>
            </p:cNvPr>
            <p:cNvSpPr/>
            <p:nvPr/>
          </p:nvSpPr>
          <p:spPr>
            <a:xfrm>
              <a:off x="9575800" y="5511800"/>
              <a:ext cx="127000" cy="177800"/>
            </a:xfrm>
            <a:prstGeom prst="downArrow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1" name="矩形: 圆角 100">
              <a:extLst>
                <a:ext uri="{FF2B5EF4-FFF2-40B4-BE49-F238E27FC236}">
                  <a16:creationId xmlns:a16="http://schemas.microsoft.com/office/drawing/2014/main" id="{34682BD9-6D3B-2FE7-89FD-5F5732FB51BE}"/>
                </a:ext>
              </a:extLst>
            </p:cNvPr>
            <p:cNvSpPr/>
            <p:nvPr/>
          </p:nvSpPr>
          <p:spPr>
            <a:xfrm>
              <a:off x="8229600" y="5740400"/>
              <a:ext cx="736600" cy="355600"/>
            </a:xfrm>
            <a:prstGeom prst="roundRect">
              <a:avLst>
                <a:gd name="adj" fmla="val 17857"/>
              </a:avLst>
            </a:prstGeom>
            <a:solidFill>
              <a:srgbClr val="F7F7F7"/>
            </a:solidFill>
            <a:ln w="9525">
              <a:solidFill>
                <a:srgbClr val="BDBD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>
                  <a:solidFill>
                    <a:srgbClr val="111111"/>
                  </a:solidFill>
                  <a:latin typeface="Arial" panose="020B0604020202020204" pitchFamily="34" charset="0"/>
                </a:rPr>
                <a:t>Skill</a:t>
              </a:r>
              <a:endParaRPr lang="zh-CN" altLang="en-US" sz="13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2" name="矩形: 圆角 101">
              <a:extLst>
                <a:ext uri="{FF2B5EF4-FFF2-40B4-BE49-F238E27FC236}">
                  <a16:creationId xmlns:a16="http://schemas.microsoft.com/office/drawing/2014/main" id="{A37A95DA-05DC-FBD7-42CD-2997BBE82B5B}"/>
                </a:ext>
              </a:extLst>
            </p:cNvPr>
            <p:cNvSpPr/>
            <p:nvPr/>
          </p:nvSpPr>
          <p:spPr>
            <a:xfrm>
              <a:off x="9258300" y="5740400"/>
              <a:ext cx="736600" cy="355600"/>
            </a:xfrm>
            <a:prstGeom prst="roundRect">
              <a:avLst>
                <a:gd name="adj" fmla="val 17857"/>
              </a:avLst>
            </a:prstGeom>
            <a:solidFill>
              <a:srgbClr val="F7F7F7"/>
            </a:solidFill>
            <a:ln w="9525">
              <a:solidFill>
                <a:srgbClr val="BDBD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>
                  <a:solidFill>
                    <a:srgbClr val="111111"/>
                  </a:solidFill>
                  <a:latin typeface="Arial" panose="020B0604020202020204" pitchFamily="34" charset="0"/>
                </a:rPr>
                <a:t>MCP</a:t>
              </a:r>
              <a:endParaRPr lang="zh-CN" altLang="en-US" sz="13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3" name="矩形: 圆角 102">
              <a:extLst>
                <a:ext uri="{FF2B5EF4-FFF2-40B4-BE49-F238E27FC236}">
                  <a16:creationId xmlns:a16="http://schemas.microsoft.com/office/drawing/2014/main" id="{48A56729-6A31-248F-54A4-AC1A3C47FA4E}"/>
                </a:ext>
              </a:extLst>
            </p:cNvPr>
            <p:cNvSpPr/>
            <p:nvPr/>
          </p:nvSpPr>
          <p:spPr>
            <a:xfrm>
              <a:off x="10287000" y="5740400"/>
              <a:ext cx="736600" cy="355600"/>
            </a:xfrm>
            <a:prstGeom prst="roundRect">
              <a:avLst>
                <a:gd name="adj" fmla="val 17857"/>
              </a:avLst>
            </a:prstGeom>
            <a:solidFill>
              <a:srgbClr val="F7F7F7"/>
            </a:solidFill>
            <a:ln w="9525">
              <a:solidFill>
                <a:srgbClr val="BDBDBD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300" b="1">
                  <a:solidFill>
                    <a:srgbClr val="111111"/>
                  </a:solidFill>
                  <a:latin typeface="Arial" panose="020B0604020202020204" pitchFamily="34" charset="0"/>
                </a:rPr>
                <a:t>QA</a:t>
              </a:r>
              <a:endParaRPr lang="zh-CN" altLang="en-US" sz="13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04" name="矩形 103">
              <a:extLst>
                <a:ext uri="{FF2B5EF4-FFF2-40B4-BE49-F238E27FC236}">
                  <a16:creationId xmlns:a16="http://schemas.microsoft.com/office/drawing/2014/main" id="{82F2D2F1-2CD6-CF51-814E-FEA3F6048632}"/>
                </a:ext>
              </a:extLst>
            </p:cNvPr>
            <p:cNvSpPr/>
            <p:nvPr/>
          </p:nvSpPr>
          <p:spPr>
            <a:xfrm>
              <a:off x="9626600" y="5664200"/>
              <a:ext cx="10160" cy="76200"/>
            </a:xfrm>
            <a:prstGeom prst="rect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5" name="矩形 104">
              <a:extLst>
                <a:ext uri="{FF2B5EF4-FFF2-40B4-BE49-F238E27FC236}">
                  <a16:creationId xmlns:a16="http://schemas.microsoft.com/office/drawing/2014/main" id="{B24499AA-C5D3-CEEF-BC32-D697612F0721}"/>
                </a:ext>
              </a:extLst>
            </p:cNvPr>
            <p:cNvSpPr/>
            <p:nvPr/>
          </p:nvSpPr>
          <p:spPr>
            <a:xfrm>
              <a:off x="8597900" y="5689600"/>
              <a:ext cx="2057400" cy="10160"/>
            </a:xfrm>
            <a:prstGeom prst="rect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>
              <a:extLst>
                <a:ext uri="{FF2B5EF4-FFF2-40B4-BE49-F238E27FC236}">
                  <a16:creationId xmlns:a16="http://schemas.microsoft.com/office/drawing/2014/main" id="{0D114C9D-D900-0504-1131-7BF17B9507A0}"/>
                </a:ext>
              </a:extLst>
            </p:cNvPr>
            <p:cNvSpPr/>
            <p:nvPr/>
          </p:nvSpPr>
          <p:spPr>
            <a:xfrm>
              <a:off x="8597900" y="5689600"/>
              <a:ext cx="10160" cy="50800"/>
            </a:xfrm>
            <a:prstGeom prst="rect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7" name="矩形 106">
              <a:extLst>
                <a:ext uri="{FF2B5EF4-FFF2-40B4-BE49-F238E27FC236}">
                  <a16:creationId xmlns:a16="http://schemas.microsoft.com/office/drawing/2014/main" id="{BC6CCDE4-582F-3D43-8D7C-ECF953E707AD}"/>
                </a:ext>
              </a:extLst>
            </p:cNvPr>
            <p:cNvSpPr/>
            <p:nvPr/>
          </p:nvSpPr>
          <p:spPr>
            <a:xfrm>
              <a:off x="9626600" y="5689600"/>
              <a:ext cx="10160" cy="50800"/>
            </a:xfrm>
            <a:prstGeom prst="rect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8" name="矩形 107">
              <a:extLst>
                <a:ext uri="{FF2B5EF4-FFF2-40B4-BE49-F238E27FC236}">
                  <a16:creationId xmlns:a16="http://schemas.microsoft.com/office/drawing/2014/main" id="{EA0149C5-95E7-55D7-9BF3-9422FD86A313}"/>
                </a:ext>
              </a:extLst>
            </p:cNvPr>
            <p:cNvSpPr/>
            <p:nvPr/>
          </p:nvSpPr>
          <p:spPr>
            <a:xfrm>
              <a:off x="10655300" y="5689600"/>
              <a:ext cx="10160" cy="50800"/>
            </a:xfrm>
            <a:prstGeom prst="rect">
              <a:avLst/>
            </a:prstGeom>
            <a:solidFill>
              <a:srgbClr val="777777"/>
            </a:solidFill>
            <a:ln w="19050" cap="flat" cmpd="sng" algn="ctr">
              <a:noFill/>
              <a:prstDash val="solid"/>
              <a:miter lim="800000"/>
            </a:ln>
            <a:effectLst/>
            <a:extLst>
              <a:ext uri="{91240B29-F687-4F45-9708-019B960494DF}">
                <a14:hiddenLine xmlns:a14="http://schemas.microsoft.com/office/drawing/2010/main" w="19050" cap="flat" cmpd="sng" algn="ctr">
                  <a:solidFill>
                    <a:schemeClr val="accent1">
                      <a:shade val="15000"/>
                    </a:schemeClr>
                  </a:solidFill>
                  <a:prstDash val="solid"/>
                  <a:miter lim="800000"/>
                </a14:hiddenLine>
              </a:ext>
            </a:ex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9" name="文本框 108">
              <a:extLst>
                <a:ext uri="{FF2B5EF4-FFF2-40B4-BE49-F238E27FC236}">
                  <a16:creationId xmlns:a16="http://schemas.microsoft.com/office/drawing/2014/main" id="{BCDB0890-DB12-8562-2D75-083353C05698}"/>
                </a:ext>
              </a:extLst>
            </p:cNvPr>
            <p:cNvSpPr txBox="1"/>
            <p:nvPr/>
          </p:nvSpPr>
          <p:spPr>
            <a:xfrm>
              <a:off x="1117600" y="6311900"/>
              <a:ext cx="9652000" cy="338554"/>
            </a:xfrm>
            <a:prstGeom prst="rect">
              <a:avLst/>
            </a:prstGeom>
            <a:noFill/>
          </p:spPr>
          <p:txBody>
            <a:bodyPr vert="horz" rtlCol="0" anchor="ctr">
              <a:spAutoFit/>
            </a:bodyPr>
            <a:lstStyle/>
            <a:p>
              <a:r>
                <a:rPr lang="en-US" altLang="zh-CN" sz="1600">
                  <a:solidFill>
                    <a:srgbClr val="333333"/>
                  </a:solidFill>
                  <a:latin typeface="Arial" panose="020B0604020202020204" pitchFamily="34" charset="0"/>
                </a:rPr>
                <a:t>All elements remain selectable PowerPoint shapes, text and arrows; the deck is not auto-saved.</a:t>
              </a:r>
              <a:endParaRPr lang="zh-CN" altLang="en-US" sz="1600">
                <a:solidFill>
                  <a:srgbClr val="333333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0" name="矩形: 圆角 109">
              <a:extLst>
                <a:ext uri="{FF2B5EF4-FFF2-40B4-BE49-F238E27FC236}">
                  <a16:creationId xmlns:a16="http://schemas.microsoft.com/office/drawing/2014/main" id="{515110E2-AD0E-8C2C-A6E8-7DEE3547E922}"/>
                </a:ext>
              </a:extLst>
            </p:cNvPr>
            <p:cNvSpPr/>
            <p:nvPr/>
          </p:nvSpPr>
          <p:spPr>
            <a:xfrm>
              <a:off x="4699000" y="5207000"/>
              <a:ext cx="812800" cy="381000"/>
            </a:xfrm>
            <a:prstGeom prst="roundRect">
              <a:avLst>
                <a:gd name="adj" fmla="val 16667"/>
              </a:avLst>
            </a:prstGeom>
            <a:solidFill>
              <a:srgbClr val="EAF3F8"/>
            </a:solidFill>
            <a:ln w="9525">
              <a:solidFill>
                <a:srgbClr val="AFC3CF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2700" tIns="12700" rIns="12700" bIns="12700" rtlCol="0" anchor="ctr">
              <a:noAutofit/>
            </a:bodyPr>
            <a:lstStyle/>
            <a:p>
              <a:pPr algn="ctr"/>
              <a:r>
                <a:rPr lang="en-US" altLang="zh-CN" sz="1300" b="1">
                  <a:solidFill>
                    <a:srgbClr val="111111"/>
                  </a:solidFill>
                  <a:latin typeface="Arial" panose="020B0604020202020204" pitchFamily="34" charset="0"/>
                </a:rPr>
                <a:t>Input</a:t>
              </a:r>
              <a:endParaRPr lang="zh-CN" altLang="en-US" sz="13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  <p:sp>
          <p:nvSpPr>
            <p:cNvPr id="111" name="矩形: 圆角 110">
              <a:extLst>
                <a:ext uri="{FF2B5EF4-FFF2-40B4-BE49-F238E27FC236}">
                  <a16:creationId xmlns:a16="http://schemas.microsoft.com/office/drawing/2014/main" id="{AFB18D51-6F5D-BDC2-ED7E-E9456FC26176}"/>
                </a:ext>
              </a:extLst>
            </p:cNvPr>
            <p:cNvSpPr/>
            <p:nvPr/>
          </p:nvSpPr>
          <p:spPr>
            <a:xfrm>
              <a:off x="5892800" y="5207000"/>
              <a:ext cx="685800" cy="381000"/>
            </a:xfrm>
            <a:prstGeom prst="roundRect">
              <a:avLst>
                <a:gd name="adj" fmla="val 16667"/>
              </a:avLst>
            </a:prstGeom>
            <a:solidFill>
              <a:srgbClr val="EFF7F2"/>
            </a:solidFill>
            <a:ln w="9525">
              <a:solidFill>
                <a:srgbClr val="AAC8B9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none" lIns="12700" tIns="12700" rIns="12700" bIns="12700" rtlCol="0" anchor="ctr">
              <a:noAutofit/>
            </a:bodyPr>
            <a:lstStyle/>
            <a:p>
              <a:pPr algn="ctr"/>
              <a:r>
                <a:rPr lang="en-US" altLang="zh-CN" sz="1300" b="1">
                  <a:solidFill>
                    <a:srgbClr val="111111"/>
                  </a:solidFill>
                  <a:latin typeface="Arial" panose="020B0604020202020204" pitchFamily="34" charset="0"/>
                </a:rPr>
                <a:t>Run</a:t>
              </a:r>
              <a:endParaRPr lang="zh-CN" altLang="en-US" sz="1300" b="1">
                <a:solidFill>
                  <a:srgbClr val="111111"/>
                </a:solidFill>
                <a:latin typeface="Arial" panose="020B0604020202020204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000015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309</Words>
  <Application>Microsoft Office PowerPoint</Application>
  <PresentationFormat>自定义</PresentationFormat>
  <Paragraphs>94</Paragraphs>
  <Slides>3</Slides>
  <Notes>3</Notes>
  <HiddenSlides>0</HiddenSlides>
  <MMClips>0</MMClips>
  <ScaleCrop>false</ScaleCrop>
  <HeadingPairs>
    <vt:vector size="6" baseType="variant">
      <vt:variant>
        <vt:lpstr>已用的字体</vt:lpstr>
      </vt:variant>
      <vt:variant>
        <vt:i4>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</vt:i4>
      </vt:variant>
    </vt:vector>
  </HeadingPairs>
  <TitlesOfParts>
    <vt:vector size="9" baseType="lpstr">
      <vt:lpstr>等线</vt:lpstr>
      <vt:lpstr>等线 Light</vt:lpstr>
      <vt:lpstr>Arial</vt:lpstr>
      <vt:lpstr>Segoe UI</vt:lpstr>
      <vt:lpstr>Times New Roman</vt:lpstr>
      <vt:lpstr>Office 主题​​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jiacheng LI</dc:creator>
  <cp:lastModifiedBy>jiacheng LI</cp:lastModifiedBy>
  <cp:revision>1</cp:revision>
  <dcterms:created xsi:type="dcterms:W3CDTF">2026-05-30T14:09:17Z</dcterms:created>
  <dcterms:modified xsi:type="dcterms:W3CDTF">2026-05-30T14:09:17Z</dcterms:modified>
</cp:coreProperties>
</file>